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15d9f6e1-2d52-48f5-d92e-d74bf8348a70}">
          <p14:sldIdLst>
            <p14:sldId id="256"/>
          </p14:sldIdLst>
        </p14:section>
        <p14:section name="문제 및 서비스 개요" id="{c5fe1729-d149-706c-2c35-06b60d536560}">
          <p14:sldIdLst>
            <p14:sldId id="257"/>
            <p14:sldId id="258"/>
          </p14:sldIdLst>
        </p14:section>
        <p14:section name="주요 기능과 이용 흐름" id="{85285fbb-8351-7f9f-b4b7-355d678d0d8c}">
          <p14:sldIdLst>
            <p14:sldId id="259"/>
            <p14:sldId id="260"/>
          </p14:sldIdLst>
        </p14:section>
        <p14:section name="서비스 화면 및 사례" id="{3d52ba49-7da3-8134-b432-ce62921a4e79}">
          <p14:sldIdLst>
            <p14:sldId id="261"/>
            <p14:sldId id="262"/>
            <p14:sldId id="263"/>
          </p14:sldIdLst>
        </p14:section>
        <p14:section name="AI 모델과 활용 방안" id="{dbaa5963-3ce0-8613-410d-07143ed9d1fd}">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 작성 규칙을 자동으로 점검하는 서비스 프로토타입 발표. 형식 규칙은 코드가 판정해 필수로, 문맥 규칙은 AI가 판정해 권고로 구분하는 것이 핵심. 서비스 링크에서 바로 체험 가능.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검토 회의에서 파일명, 날짜, 문체 같은 형식 지적에 시간이 많이 쓰이고 내용 검토가 부족해지는 문제에서 출발. 기준이 검토자마다 다르고, 규칙의 이유를 모르니 같은 위반이 반복됨. 목표는 형식은 자동 점검으로 처리하고 검토자는 내용에 집중하는 구조.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문서를 붙여넣으면 두 갈래로 점검. 파일명 형식, 날짜 일치, 문서 이력 절처럼 코드로 확정 판정할 수 있는 규칙은 필수. 문체, 결정 이유의 충분성처럼 문맥 판단이 필요한 규칙은 AI가 판정하고 권고로만 분류. AI가 틀려도 검토 요청이 막히지 않게 하는 것이 핵심 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기능은 6가지. 작성자는 점검, 수정안 적용, 수정본 확인, 검토 요청까지. 검토 요청 버튼은 필수 위반이 0건일 때만 켜짐. 검토자는 작성자가 거부한 권고 항목까지 함께 보고 승인 또는 반려. 규칙 질의는 누구나 사용.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작성자는 문서를 입력하고 결과를 확인해 수정과 재점검을 반복. 필수 0건이 되면 검토 요청. 검토자는 검토함에서 확인 후 승인하면 문서목록에 자동 등록, 반려하면 사유가 작성자에게 전달되어 다시 수정 단계로 돌아감. 시연에서는 상단 버튼으로 역할을 바꿔 두 화면을 모두 보여줌.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보고서 샘플을 불러와 점검. 파일명 날짜가 시험일 10월 5일로 되어 있고 작성일은 10월 6일이라 C-02 위반. 문서 이력 절도 없어 필수 3건. 서술형 문장, 두 내용 연결, 협의 결과라는 이유는 AI 판정으로 권고 3건. 행을 누르면 원문 위치와 근거 조항이 표시됨.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필수 위반의 적용 버튼을 누르면 즉시 본문이 고쳐지고 재점검됨. 파일명 하나만 고쳐도 C-01과 C-02가 같이 사라짐. 권고는 수락하거나 거부할 수 있고, 수정본 미리보기에서 원본 대비 변경 줄을 빨강·초록으로 확인. 필수 0건이 되어 검토 요청 버튼이 활성화.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검토자로 전환하면 검토함에 요청이 도착. 필수 0건은 이미 보장되므로 검토자는 작성자가 거부한 권고 항목과 내용만 판단. 승인하면 문서목록에 바로 등록. 규칙집에서는 결정 이유는 어느 정도로 써야 하는지 같은 질문에 근거 규칙과 함께 답변.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모델은 두 갈래로 검토. 상용 API는 한국어 문맥 판단 품질이 좋고 바로 연동할 수 있지만 문서가 외부로 나가므로 기업 계약과 보안 검토가 필요. 사내 구축형은 보안은 확실하지만 GPU 서버와 운영 인력이 필요. 시범은 상용 API로 품질을 검증하고, 확산 단계에서 보안 정책에 맞춰 결정하는 단계적 접근 제안.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서비스에서는 문서를 절 단위로 나누고, 관련 규칙을 규칙집에서 검색한 뒤 LLM이 판정. 출력은 정해진 형식으로 받아 코드가 한 번 더 검증하고 권고로만 표시. 결정 이유처럼 사람이 책임질 내용은 AI가 대신 쓰지 않음. 현재 시연판은 패턴 매칭으로 이 흐름을 흉내 낸 것이고, 다음 단계는 LLM 연동, 백엔드, 회사별 규칙집.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31520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154680"/>
            <a:ext cx="731520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algn="l" indent="0" marL="0">
              <a:buNone/>
              <a:defRPr lang="en-US" sz="1300" b="1"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문서 규칙 점검기 · AI의산업현장적용 중간평가</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hjaeho95.github.io/doc-rule-checker/" TargetMode="External"/><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315200" cy="1097280"/>
          </a:xfrm>
          <a:prstGeom prst="rect">
            <a:avLst/>
          </a:prstGeom>
          <a:noFill/>
          <a:ln/>
        </p:spPr>
        <p:txBody>
          <a:bodyPr wrap="square" lIns="0" tIns="0" rIns="0" bIns="0" rtlCol="0" anchor="ctr"/>
          <a:lstStyle/>
          <a:p>
            <a:pPr algn="l" indent="0" marL="0">
              <a:buNone/>
            </a:pPr>
            <a:r>
              <a:rPr lang="en-US" sz="4800" b="1" dirty="0">
                <a:solidFill>
                  <a:schemeClr val="bg1"/>
                </a:solidFill>
              </a:rPr>
              <a:t>문서 규칙 점검기</a:t>
            </a:r>
            <a:endParaRPr lang="en-US" sz="4800" dirty="0"/>
          </a:p>
        </p:txBody>
      </p:sp>
      <p:sp>
        <p:nvSpPr>
          <p:cNvPr id="3" name="Text 0"/>
          <p:cNvSpPr/>
          <p:nvPr>
            <p:ph idx="101" type="body" hasCustomPrompt="1"/>
          </p:nvPr>
        </p:nvSpPr>
        <p:spPr>
          <a:xfrm>
            <a:off x="731520" y="3154680"/>
            <a:ext cx="7315200" cy="822960"/>
          </a:xfrm>
          <a:prstGeom prst="rect">
            <a:avLst/>
          </a:prstGeom>
          <a:noFill/>
          <a:ln/>
        </p:spPr>
        <p:txBody>
          <a:bodyPr wrap="square" lIns="0" tIns="0" rIns="0" bIns="0" rtlCol="0" anchor="t"/>
          <a:lstStyle/>
          <a:p>
            <a:pPr algn="l" indent="0" marL="0">
              <a:buNone/>
            </a:pPr>
            <a:r>
              <a:rPr lang="en-US" sz="1800" dirty="0">
                <a:solidFill>
                  <a:schemeClr val="bg2"/>
                </a:solidFill>
              </a:rPr>
              <a:t>사내 문서 작성 규칙 자동 점검 서비스</a:t>
            </a:r>
            <a:endParaRPr lang="en-US" sz="1800" dirty="0"/>
          </a:p>
        </p:txBody>
      </p:sp>
      <p:sp>
        <p:nvSpPr>
          <p:cNvPr id="4" name="Text 2"/>
          <p:cNvSpPr txBox="1"/>
          <p:nvPr/>
        </p:nvSpPr>
        <p:spPr>
          <a:xfrm>
            <a:off x="731520" y="4343400"/>
            <a:ext cx="6949440" cy="320040"/>
          </a:xfrm>
          <a:prstGeom prst="rect">
            <a:avLst/>
          </a:prstGeom>
          <a:noFill/>
          <a:ln/>
        </p:spPr>
        <p:txBody>
          <a:bodyPr wrap="square" lIns="0" tIns="0" rIns="0" bIns="0" rtlCol="0" anchor="t"/>
          <a:lstStyle/>
          <a:p>
            <a:pPr indent="0" marL="0">
              <a:buNone/>
            </a:pPr>
            <a:r>
              <a:rPr lang="en-US" sz="1400" dirty="0">
                <a:solidFill>
                  <a:srgbClr val="CADCFC"/>
                </a:solidFill>
              </a:rPr>
              <a:t>서비스 링크  </a:t>
            </a:r>
            <a:pPr indent="0" marL="0">
              <a:buNone/>
            </a:pPr>
            <a:r>
              <a:rPr lang="en-US" sz="1400" b="1"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hjaeho95.github.io/doc-rule-checker</a:t>
            </a:r>
            <a:endParaRPr lang="en-US" sz="1400" dirty="0"/>
          </a:p>
        </p:txBody>
      </p:sp>
      <p:sp>
        <p:nvSpPr>
          <p:cNvPr id="5" name="Text 3"/>
          <p:cNvSpPr txBox="1"/>
          <p:nvPr/>
        </p:nvSpPr>
        <p:spPr>
          <a:xfrm>
            <a:off x="731520" y="4709160"/>
            <a:ext cx="6949440" cy="320040"/>
          </a:xfrm>
          <a:prstGeom prst="rect">
            <a:avLst/>
          </a:prstGeom>
          <a:noFill/>
          <a:ln/>
        </p:spPr>
        <p:txBody>
          <a:bodyPr wrap="square" lIns="0" tIns="0" rIns="0" bIns="0" rtlCol="0" anchor="t"/>
          <a:lstStyle/>
          <a:p>
            <a:pPr indent="0" marL="0">
              <a:buNone/>
            </a:pPr>
            <a:r>
              <a:rPr lang="en-US" sz="1400" dirty="0">
                <a:solidFill>
                  <a:srgbClr val="CADCFC"/>
                </a:solidFill>
              </a:rPr>
              <a:t>AI의산업현장적용 중간평가 · 2026.10</a:t>
            </a:r>
            <a:endParaRPr lang="en-US" sz="1400" dirty="0"/>
          </a:p>
        </p:txBody>
      </p:sp>
      <p:sp>
        <p:nvSpPr>
          <p:cNvPr id="6" name="hero-icon-bg"/>
          <p:cNvSpPr/>
          <p:nvPr/>
        </p:nvSpPr>
        <p:spPr>
          <a:xfrm>
            <a:off x="8915400" y="1234440"/>
            <a:ext cx="1828800" cy="1828800"/>
          </a:xfrm>
          <a:prstGeom prst="ellipse">
            <a:avLst/>
          </a:prstGeom>
          <a:solidFill>
            <a:schemeClr val="accent1"/>
          </a:solidFill>
          <a:ln/>
        </p:spPr>
      </p:sp>
      <p:pic>
        <p:nvPicPr>
          <p:cNvPr id="7" name="hero-icon" descr="preencoded.png">    </p:cNvPr>
          <p:cNvPicPr>
            <a:picLocks noChangeAspect="1"/>
          </p:cNvPicPr>
          <p:nvPr/>
        </p:nvPicPr>
        <p:blipFill>
          <a:blip r:embed="rId2"/>
          <a:stretch>
            <a:fillRect/>
          </a:stretch>
        </p:blipFill>
        <p:spPr>
          <a:xfrm>
            <a:off x="9354312" y="1673352"/>
            <a:ext cx="950976" cy="950976"/>
          </a:xfrm>
          <a:prstGeom prst="rect">
            <a:avLst/>
          </a:prstGeom>
        </p:spPr>
      </p:pic>
      <p:sp>
        <p:nvSpPr>
          <p:cNvPr id="8" name="hero-chip"/>
          <p:cNvSpPr/>
          <p:nvPr/>
        </p:nvSpPr>
        <p:spPr>
          <a:xfrm>
            <a:off x="8229600" y="3429000"/>
            <a:ext cx="3200400" cy="475488"/>
          </a:xfrm>
          <a:prstGeom prst="roundRect">
            <a:avLst>
              <a:gd name="adj" fmla="val 19231"/>
            </a:avLst>
          </a:prstGeom>
          <a:solidFill>
            <a:srgbClr val="FFFFFF">
              <a:alpha val="12000"/>
            </a:srgbClr>
          </a:solidFill>
          <a:ln w="9525">
            <a:solidFill>
              <a:srgbClr val="FFFFFF">
                <a:alpha val="30000"/>
              </a:srgbClr>
            </a:solidFill>
            <a:prstDash val="solid"/>
          </a:ln>
        </p:spPr>
      </p:sp>
      <p:sp>
        <p:nvSpPr>
          <p:cNvPr id="9" name="hero-dot"/>
          <p:cNvSpPr/>
          <p:nvPr/>
        </p:nvSpPr>
        <p:spPr>
          <a:xfrm>
            <a:off x="8412480" y="3575304"/>
            <a:ext cx="182880" cy="182880"/>
          </a:xfrm>
          <a:prstGeom prst="ellipse">
            <a:avLst/>
          </a:prstGeom>
          <a:solidFill>
            <a:srgbClr val="B91C1C"/>
          </a:solidFill>
          <a:ln/>
        </p:spPr>
      </p:sp>
      <p:sp>
        <p:nvSpPr>
          <p:cNvPr id="10" name="Text 7"/>
          <p:cNvSpPr txBox="1"/>
          <p:nvPr/>
        </p:nvSpPr>
        <p:spPr>
          <a:xfrm>
            <a:off x="8732520" y="3429000"/>
            <a:ext cx="2651760" cy="475488"/>
          </a:xfrm>
          <a:prstGeom prst="rect">
            <a:avLst/>
          </a:prstGeom>
          <a:noFill/>
          <a:ln/>
        </p:spPr>
        <p:txBody>
          <a:bodyPr wrap="square" lIns="0" tIns="0" rIns="0" bIns="0" rtlCol="0" anchor="ctr"/>
          <a:lstStyle/>
          <a:p>
            <a:pPr indent="0" marL="0">
              <a:buNone/>
            </a:pPr>
            <a:r>
              <a:rPr lang="en-US" sz="1500" b="1" dirty="0">
                <a:solidFill>
                  <a:srgbClr val="FFFFFF"/>
                </a:solidFill>
              </a:rPr>
              <a:t>코드 판정  </a:t>
            </a:r>
            <a:pPr indent="0" marL="0">
              <a:buNone/>
            </a:pPr>
            <a:r>
              <a:rPr lang="en-US" sz="1500" dirty="0">
                <a:solidFill>
                  <a:srgbClr val="CADCFC"/>
                </a:solidFill>
              </a:rPr>
              <a:t>필수</a:t>
            </a:r>
            <a:endParaRPr lang="en-US" sz="1500" dirty="0"/>
          </a:p>
        </p:txBody>
      </p:sp>
      <p:sp>
        <p:nvSpPr>
          <p:cNvPr id="11" name="hero-chip"/>
          <p:cNvSpPr/>
          <p:nvPr/>
        </p:nvSpPr>
        <p:spPr>
          <a:xfrm>
            <a:off x="8229600" y="4050792"/>
            <a:ext cx="3200400" cy="475488"/>
          </a:xfrm>
          <a:prstGeom prst="roundRect">
            <a:avLst>
              <a:gd name="adj" fmla="val 19231"/>
            </a:avLst>
          </a:prstGeom>
          <a:solidFill>
            <a:srgbClr val="FFFFFF">
              <a:alpha val="12000"/>
            </a:srgbClr>
          </a:solidFill>
          <a:ln w="9525">
            <a:solidFill>
              <a:srgbClr val="FFFFFF">
                <a:alpha val="30000"/>
              </a:srgbClr>
            </a:solidFill>
            <a:prstDash val="solid"/>
          </a:ln>
        </p:spPr>
      </p:sp>
      <p:sp>
        <p:nvSpPr>
          <p:cNvPr id="12" name="hero-dot"/>
          <p:cNvSpPr/>
          <p:nvPr/>
        </p:nvSpPr>
        <p:spPr>
          <a:xfrm>
            <a:off x="8412480" y="4197096"/>
            <a:ext cx="182880" cy="182880"/>
          </a:xfrm>
          <a:prstGeom prst="ellipse">
            <a:avLst/>
          </a:prstGeom>
          <a:solidFill>
            <a:srgbClr val="6D28D9"/>
          </a:solidFill>
          <a:ln/>
        </p:spPr>
      </p:sp>
      <p:sp>
        <p:nvSpPr>
          <p:cNvPr id="13" name="Text 10"/>
          <p:cNvSpPr txBox="1"/>
          <p:nvPr/>
        </p:nvSpPr>
        <p:spPr>
          <a:xfrm>
            <a:off x="8732520" y="4050792"/>
            <a:ext cx="2651760" cy="475488"/>
          </a:xfrm>
          <a:prstGeom prst="rect">
            <a:avLst/>
          </a:prstGeom>
          <a:noFill/>
          <a:ln/>
        </p:spPr>
        <p:txBody>
          <a:bodyPr wrap="square" lIns="0" tIns="0" rIns="0" bIns="0" rtlCol="0" anchor="ctr"/>
          <a:lstStyle/>
          <a:p>
            <a:pPr indent="0" marL="0">
              <a:buNone/>
            </a:pPr>
            <a:r>
              <a:rPr lang="en-US" sz="1500" b="1" dirty="0">
                <a:solidFill>
                  <a:srgbClr val="FFFFFF"/>
                </a:solidFill>
              </a:rPr>
              <a:t>AI 판정  </a:t>
            </a:r>
            <a:pPr indent="0" marL="0">
              <a:buNone/>
            </a:pPr>
            <a:r>
              <a:rPr lang="en-US" sz="1500" dirty="0">
                <a:solidFill>
                  <a:srgbClr val="CADCFC"/>
                </a:solidFill>
              </a:rPr>
              <a:t>권고</a:t>
            </a:r>
            <a:endParaRPr lang="en-US" sz="1500" dirty="0"/>
          </a:p>
        </p:txBody>
      </p:sp>
      <p:sp>
        <p:nvSpPr>
          <p:cNvPr id="14" name="hero-chip"/>
          <p:cNvSpPr/>
          <p:nvPr/>
        </p:nvSpPr>
        <p:spPr>
          <a:xfrm>
            <a:off x="8229600" y="4672584"/>
            <a:ext cx="3200400" cy="475488"/>
          </a:xfrm>
          <a:prstGeom prst="roundRect">
            <a:avLst>
              <a:gd name="adj" fmla="val 19231"/>
            </a:avLst>
          </a:prstGeom>
          <a:solidFill>
            <a:srgbClr val="FFFFFF">
              <a:alpha val="12000"/>
            </a:srgbClr>
          </a:solidFill>
          <a:ln w="9525">
            <a:solidFill>
              <a:srgbClr val="FFFFFF">
                <a:alpha val="30000"/>
              </a:srgbClr>
            </a:solidFill>
            <a:prstDash val="solid"/>
          </a:ln>
        </p:spPr>
      </p:sp>
      <p:sp>
        <p:nvSpPr>
          <p:cNvPr id="15" name="hero-dot"/>
          <p:cNvSpPr/>
          <p:nvPr/>
        </p:nvSpPr>
        <p:spPr>
          <a:xfrm>
            <a:off x="8412480" y="4818888"/>
            <a:ext cx="182880" cy="182880"/>
          </a:xfrm>
          <a:prstGeom prst="ellipse">
            <a:avLst/>
          </a:prstGeom>
          <a:solidFill>
            <a:srgbClr val="047857"/>
          </a:solidFill>
          <a:ln/>
        </p:spPr>
      </p:sp>
      <p:sp>
        <p:nvSpPr>
          <p:cNvPr id="16" name="Text 13"/>
          <p:cNvSpPr txBox="1"/>
          <p:nvPr/>
        </p:nvSpPr>
        <p:spPr>
          <a:xfrm>
            <a:off x="8732520" y="4672584"/>
            <a:ext cx="2651760" cy="475488"/>
          </a:xfrm>
          <a:prstGeom prst="rect">
            <a:avLst/>
          </a:prstGeom>
          <a:noFill/>
          <a:ln/>
        </p:spPr>
        <p:txBody>
          <a:bodyPr wrap="square" lIns="0" tIns="0" rIns="0" bIns="0" rtlCol="0" anchor="ctr"/>
          <a:lstStyle/>
          <a:p>
            <a:pPr indent="0" marL="0">
              <a:buNone/>
            </a:pPr>
            <a:r>
              <a:rPr lang="en-US" sz="1500" b="1" dirty="0">
                <a:solidFill>
                  <a:srgbClr val="FFFFFF"/>
                </a:solidFill>
              </a:rPr>
              <a:t>검토 요청 · 승인  </a:t>
            </a:r>
            <a:pPr indent="0" marL="0">
              <a:buNone/>
            </a:pPr>
            <a:r>
              <a:rPr lang="en-US" sz="1500" dirty="0">
                <a:solidFill>
                  <a:srgbClr val="CADCFC"/>
                </a:solidFill>
              </a:rPr>
              <a:t>흐름</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01  해결하려는 문제</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문서 검토 시간이 형식 지적에 소모됨</a:t>
            </a:r>
            <a:endParaRPr lang="en-US" sz="3000" dirty="0"/>
          </a:p>
        </p:txBody>
      </p:sp>
      <p:sp>
        <p:nvSpPr>
          <p:cNvPr id="4" name="problem-card"/>
          <p:cNvSpPr/>
          <p:nvPr/>
        </p:nvSpPr>
        <p:spPr>
          <a:xfrm>
            <a:off x="548640" y="1691640"/>
            <a:ext cx="5852160" cy="1234440"/>
          </a:xfrm>
          <a:prstGeom prst="roundRect">
            <a:avLst>
              <a:gd name="adj" fmla="val 5926"/>
            </a:avLst>
          </a:prstGeom>
          <a:solidFill>
            <a:schemeClr val="bg2"/>
          </a:solidFill>
          <a:ln/>
        </p:spPr>
      </p:sp>
      <p:sp>
        <p:nvSpPr>
          <p:cNvPr id="5" name="problem-icon-bg"/>
          <p:cNvSpPr/>
          <p:nvPr/>
        </p:nvSpPr>
        <p:spPr>
          <a:xfrm>
            <a:off x="777240" y="1993392"/>
            <a:ext cx="640080" cy="640080"/>
          </a:xfrm>
          <a:prstGeom prst="ellipse">
            <a:avLst/>
          </a:prstGeom>
          <a:solidFill>
            <a:schemeClr val="accent1"/>
          </a:solidFill>
          <a:ln/>
        </p:spPr>
      </p:sp>
      <p:pic>
        <p:nvPicPr>
          <p:cNvPr id="6" name="problem-icon"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7" name="Text 4"/>
          <p:cNvSpPr txBox="1"/>
          <p:nvPr/>
        </p:nvSpPr>
        <p:spPr>
          <a:xfrm>
            <a:off x="1645920" y="1892808"/>
            <a:ext cx="4572000" cy="365760"/>
          </a:xfrm>
          <a:prstGeom prst="rect">
            <a:avLst/>
          </a:prstGeom>
          <a:noFill/>
          <a:ln/>
        </p:spPr>
        <p:txBody>
          <a:bodyPr wrap="square" lIns="0" tIns="0" rIns="0" bIns="0" rtlCol="0" anchor="t"/>
          <a:lstStyle/>
          <a:p>
            <a:pPr indent="0" marL="0">
              <a:buNone/>
            </a:pPr>
            <a:r>
              <a:rPr lang="en-US" sz="1800" b="1" dirty="0">
                <a:solidFill>
                  <a:schemeClr val="tx2"/>
                </a:solidFill>
              </a:rPr>
              <a:t>형식 지적에 검토 시간 소모</a:t>
            </a:r>
            <a:endParaRPr lang="en-US" sz="1800" dirty="0"/>
          </a:p>
        </p:txBody>
      </p:sp>
      <p:sp>
        <p:nvSpPr>
          <p:cNvPr id="8" name="Text 5"/>
          <p:cNvSpPr txBox="1"/>
          <p:nvPr/>
        </p:nvSpPr>
        <p:spPr>
          <a:xfrm>
            <a:off x="1645920" y="2286000"/>
            <a:ext cx="4572000" cy="548640"/>
          </a:xfrm>
          <a:prstGeom prst="rect">
            <a:avLst/>
          </a:prstGeom>
          <a:noFill/>
          <a:ln/>
        </p:spPr>
        <p:txBody>
          <a:bodyPr wrap="square" lIns="0" tIns="0" rIns="0" bIns="0" rtlCol="0" anchor="t"/>
          <a:lstStyle/>
          <a:p>
            <a:pPr indent="0" marL="0">
              <a:buNone/>
            </a:pPr>
            <a:r>
              <a:rPr lang="en-US" sz="1400" dirty="0">
                <a:solidFill>
                  <a:schemeClr val="tx1"/>
                </a:solidFill>
              </a:rPr>
              <a:t>파일명·날짜·문체 같은 형식 코멘트가 반복되고 정작 내용 검토는 뒤로 밀림</a:t>
            </a:r>
            <a:endParaRPr lang="en-US" sz="1400" dirty="0"/>
          </a:p>
        </p:txBody>
      </p:sp>
      <p:sp>
        <p:nvSpPr>
          <p:cNvPr id="9" name="problem-card"/>
          <p:cNvSpPr/>
          <p:nvPr/>
        </p:nvSpPr>
        <p:spPr>
          <a:xfrm>
            <a:off x="548640" y="3154680"/>
            <a:ext cx="5852160" cy="1234440"/>
          </a:xfrm>
          <a:prstGeom prst="roundRect">
            <a:avLst>
              <a:gd name="adj" fmla="val 5926"/>
            </a:avLst>
          </a:prstGeom>
          <a:solidFill>
            <a:schemeClr val="bg2"/>
          </a:solidFill>
          <a:ln/>
        </p:spPr>
      </p:sp>
      <p:sp>
        <p:nvSpPr>
          <p:cNvPr id="10" name="problem-icon-bg"/>
          <p:cNvSpPr/>
          <p:nvPr/>
        </p:nvSpPr>
        <p:spPr>
          <a:xfrm>
            <a:off x="777240" y="3456432"/>
            <a:ext cx="640080" cy="640080"/>
          </a:xfrm>
          <a:prstGeom prst="ellipse">
            <a:avLst/>
          </a:prstGeom>
          <a:solidFill>
            <a:schemeClr val="accent1"/>
          </a:solidFill>
          <a:ln/>
        </p:spPr>
      </p:sp>
      <p:pic>
        <p:nvPicPr>
          <p:cNvPr id="11" name="problem-icon" descr="preencoded.png">    </p:cNvPr>
          <p:cNvPicPr>
            <a:picLocks noChangeAspect="1"/>
          </p:cNvPicPr>
          <p:nvPr/>
        </p:nvPicPr>
        <p:blipFill>
          <a:blip r:embed="rId2"/>
          <a:stretch>
            <a:fillRect/>
          </a:stretch>
        </p:blipFill>
        <p:spPr>
          <a:xfrm>
            <a:off x="930859" y="3610051"/>
            <a:ext cx="332842" cy="332842"/>
          </a:xfrm>
          <a:prstGeom prst="rect">
            <a:avLst/>
          </a:prstGeom>
        </p:spPr>
      </p:pic>
      <p:sp>
        <p:nvSpPr>
          <p:cNvPr id="12" name="Text 8"/>
          <p:cNvSpPr txBox="1"/>
          <p:nvPr/>
        </p:nvSpPr>
        <p:spPr>
          <a:xfrm>
            <a:off x="1645920" y="3355848"/>
            <a:ext cx="4572000" cy="365760"/>
          </a:xfrm>
          <a:prstGeom prst="rect">
            <a:avLst/>
          </a:prstGeom>
          <a:noFill/>
          <a:ln/>
        </p:spPr>
        <p:txBody>
          <a:bodyPr wrap="square" lIns="0" tIns="0" rIns="0" bIns="0" rtlCol="0" anchor="t"/>
          <a:lstStyle/>
          <a:p>
            <a:pPr indent="0" marL="0">
              <a:buNone/>
            </a:pPr>
            <a:r>
              <a:rPr lang="en-US" sz="1800" b="1" dirty="0">
                <a:solidFill>
                  <a:schemeClr val="tx2"/>
                </a:solidFill>
              </a:rPr>
              <a:t>검토자마다 다른 기준</a:t>
            </a:r>
            <a:endParaRPr lang="en-US" sz="1800" dirty="0"/>
          </a:p>
        </p:txBody>
      </p:sp>
      <p:sp>
        <p:nvSpPr>
          <p:cNvPr id="13" name="Text 9"/>
          <p:cNvSpPr txBox="1"/>
          <p:nvPr/>
        </p:nvSpPr>
        <p:spPr>
          <a:xfrm>
            <a:off x="1645920" y="3749040"/>
            <a:ext cx="4572000" cy="548640"/>
          </a:xfrm>
          <a:prstGeom prst="rect">
            <a:avLst/>
          </a:prstGeom>
          <a:noFill/>
          <a:ln/>
        </p:spPr>
        <p:txBody>
          <a:bodyPr wrap="square" lIns="0" tIns="0" rIns="0" bIns="0" rtlCol="0" anchor="t"/>
          <a:lstStyle/>
          <a:p>
            <a:pPr indent="0" marL="0">
              <a:buNone/>
            </a:pPr>
            <a:r>
              <a:rPr lang="en-US" sz="1400" dirty="0">
                <a:solidFill>
                  <a:schemeClr val="tx1"/>
                </a:solidFill>
              </a:rPr>
              <a:t>같은 규칙도 검토자에 따라 지적 여부가 달라 작성자가 기준을 예측하기 어려움</a:t>
            </a:r>
            <a:endParaRPr lang="en-US" sz="1400" dirty="0"/>
          </a:p>
        </p:txBody>
      </p:sp>
      <p:sp>
        <p:nvSpPr>
          <p:cNvPr id="14" name="problem-card"/>
          <p:cNvSpPr/>
          <p:nvPr/>
        </p:nvSpPr>
        <p:spPr>
          <a:xfrm>
            <a:off x="548640" y="4617720"/>
            <a:ext cx="5852160" cy="1234440"/>
          </a:xfrm>
          <a:prstGeom prst="roundRect">
            <a:avLst>
              <a:gd name="adj" fmla="val 5926"/>
            </a:avLst>
          </a:prstGeom>
          <a:solidFill>
            <a:schemeClr val="bg2"/>
          </a:solidFill>
          <a:ln/>
        </p:spPr>
      </p:sp>
      <p:sp>
        <p:nvSpPr>
          <p:cNvPr id="15" name="problem-icon-bg"/>
          <p:cNvSpPr/>
          <p:nvPr/>
        </p:nvSpPr>
        <p:spPr>
          <a:xfrm>
            <a:off x="777240" y="4919472"/>
            <a:ext cx="640080" cy="640080"/>
          </a:xfrm>
          <a:prstGeom prst="ellipse">
            <a:avLst/>
          </a:prstGeom>
          <a:solidFill>
            <a:schemeClr val="accent1"/>
          </a:solidFill>
          <a:ln/>
        </p:spPr>
      </p:sp>
      <p:pic>
        <p:nvPicPr>
          <p:cNvPr id="16" name="problem-icon" descr="preencoded.png">    </p:cNvPr>
          <p:cNvPicPr>
            <a:picLocks noChangeAspect="1"/>
          </p:cNvPicPr>
          <p:nvPr/>
        </p:nvPicPr>
        <p:blipFill>
          <a:blip r:embed="rId3"/>
          <a:stretch>
            <a:fillRect/>
          </a:stretch>
        </p:blipFill>
        <p:spPr>
          <a:xfrm>
            <a:off x="930859" y="5073091"/>
            <a:ext cx="332842" cy="332842"/>
          </a:xfrm>
          <a:prstGeom prst="rect">
            <a:avLst/>
          </a:prstGeom>
        </p:spPr>
      </p:pic>
      <p:sp>
        <p:nvSpPr>
          <p:cNvPr id="17" name="Text 12"/>
          <p:cNvSpPr txBox="1"/>
          <p:nvPr/>
        </p:nvSpPr>
        <p:spPr>
          <a:xfrm>
            <a:off x="1645920" y="4818888"/>
            <a:ext cx="4572000" cy="365760"/>
          </a:xfrm>
          <a:prstGeom prst="rect">
            <a:avLst/>
          </a:prstGeom>
          <a:noFill/>
          <a:ln/>
        </p:spPr>
        <p:txBody>
          <a:bodyPr wrap="square" lIns="0" tIns="0" rIns="0" bIns="0" rtlCol="0" anchor="t"/>
          <a:lstStyle/>
          <a:p>
            <a:pPr indent="0" marL="0">
              <a:buNone/>
            </a:pPr>
            <a:r>
              <a:rPr lang="en-US" sz="1800" b="1" dirty="0">
                <a:solidFill>
                  <a:schemeClr val="tx2"/>
                </a:solidFill>
              </a:rPr>
              <a:t>규칙의 이유를 모름</a:t>
            </a:r>
            <a:endParaRPr lang="en-US" sz="1800" dirty="0"/>
          </a:p>
        </p:txBody>
      </p:sp>
      <p:sp>
        <p:nvSpPr>
          <p:cNvPr id="18" name="Text 13"/>
          <p:cNvSpPr txBox="1"/>
          <p:nvPr/>
        </p:nvSpPr>
        <p:spPr>
          <a:xfrm>
            <a:off x="1645920" y="5212080"/>
            <a:ext cx="4572000" cy="548640"/>
          </a:xfrm>
          <a:prstGeom prst="rect">
            <a:avLst/>
          </a:prstGeom>
          <a:noFill/>
          <a:ln/>
        </p:spPr>
        <p:txBody>
          <a:bodyPr wrap="square" lIns="0" tIns="0" rIns="0" bIns="0" rtlCol="0" anchor="t"/>
          <a:lstStyle/>
          <a:p>
            <a:pPr indent="0" marL="0">
              <a:buNone/>
            </a:pPr>
            <a:r>
              <a:rPr lang="en-US" sz="1400" dirty="0">
                <a:solidFill>
                  <a:schemeClr val="tx1"/>
                </a:solidFill>
              </a:rPr>
              <a:t>왜 지켜야 하는지 모르는 규칙은 납득이 안 되어 같은 위반이 반복됨</a:t>
            </a:r>
            <a:endParaRPr lang="en-US" sz="1400" dirty="0"/>
          </a:p>
        </p:txBody>
      </p:sp>
      <p:sp>
        <p:nvSpPr>
          <p:cNvPr id="19" name="flow-card"/>
          <p:cNvSpPr/>
          <p:nvPr/>
        </p:nvSpPr>
        <p:spPr>
          <a:xfrm>
            <a:off x="6766560" y="1691640"/>
            <a:ext cx="4846320" cy="1965960"/>
          </a:xfrm>
          <a:prstGeom prst="roundRect">
            <a:avLst>
              <a:gd name="adj" fmla="val 3721"/>
            </a:avLst>
          </a:prstGeom>
          <a:solidFill>
            <a:schemeClr val="bg1"/>
          </a:solidFill>
          <a:ln w="9525">
            <a:solidFill>
              <a:srgbClr val="D7DEE8"/>
            </a:solidFill>
            <a:prstDash val="solid"/>
          </a:ln>
        </p:spPr>
      </p:sp>
      <p:sp>
        <p:nvSpPr>
          <p:cNvPr id="20" name="flow-label"/>
          <p:cNvSpPr/>
          <p:nvPr/>
        </p:nvSpPr>
        <p:spPr>
          <a:xfrm>
            <a:off x="6995160" y="1892808"/>
            <a:ext cx="731520" cy="329184"/>
          </a:xfrm>
          <a:prstGeom prst="roundRect">
            <a:avLst>
              <a:gd name="adj" fmla="val 16667"/>
            </a:avLst>
          </a:prstGeom>
          <a:solidFill>
            <a:schemeClr val="accent2"/>
          </a:solidFill>
          <a:ln/>
        </p:spPr>
      </p:sp>
      <p:sp>
        <p:nvSpPr>
          <p:cNvPr id="21" name="Text 16"/>
          <p:cNvSpPr txBox="1"/>
          <p:nvPr/>
        </p:nvSpPr>
        <p:spPr>
          <a:xfrm>
            <a:off x="6995160" y="1892808"/>
            <a:ext cx="731520" cy="329184"/>
          </a:xfrm>
          <a:prstGeom prst="rect">
            <a:avLst/>
          </a:prstGeom>
          <a:noFill/>
          <a:ln/>
        </p:spPr>
        <p:txBody>
          <a:bodyPr wrap="square" lIns="0" tIns="0" rIns="0" bIns="0" rtlCol="0" anchor="ctr"/>
          <a:lstStyle/>
          <a:p>
            <a:pPr algn="ctr" indent="0" marL="0">
              <a:buNone/>
            </a:pPr>
            <a:r>
              <a:rPr lang="en-US" sz="1300" b="1" dirty="0">
                <a:solidFill>
                  <a:schemeClr val="bg1"/>
                </a:solidFill>
              </a:rPr>
              <a:t>현재</a:t>
            </a:r>
            <a:endParaRPr lang="en-US" sz="1300" dirty="0"/>
          </a:p>
        </p:txBody>
      </p:sp>
      <p:sp>
        <p:nvSpPr>
          <p:cNvPr id="22" name="Text 17"/>
          <p:cNvSpPr txBox="1"/>
          <p:nvPr/>
        </p:nvSpPr>
        <p:spPr>
          <a:xfrm>
            <a:off x="7863840" y="1892808"/>
            <a:ext cx="3566160" cy="329184"/>
          </a:xfrm>
          <a:prstGeom prst="rect">
            <a:avLst/>
          </a:prstGeom>
          <a:noFill/>
          <a:ln/>
        </p:spPr>
        <p:txBody>
          <a:bodyPr wrap="square" lIns="0" tIns="0" rIns="0" bIns="0" rtlCol="0" anchor="ctr"/>
          <a:lstStyle/>
          <a:p>
            <a:pPr indent="0" marL="0">
              <a:buNone/>
            </a:pPr>
            <a:r>
              <a:rPr lang="en-US" sz="1300" b="1" dirty="0">
                <a:solidFill>
                  <a:schemeClr val="accent2"/>
                </a:solidFill>
              </a:rPr>
              <a:t>형식 지적 ↔ 수정 반복</a:t>
            </a:r>
            <a:endParaRPr lang="en-US" sz="1300" dirty="0"/>
          </a:p>
        </p:txBody>
      </p:sp>
      <p:sp>
        <p:nvSpPr>
          <p:cNvPr id="23" name="flow-step"/>
          <p:cNvSpPr/>
          <p:nvPr/>
        </p:nvSpPr>
        <p:spPr>
          <a:xfrm>
            <a:off x="6995160" y="2514600"/>
            <a:ext cx="960120" cy="822960"/>
          </a:xfrm>
          <a:prstGeom prst="roundRect">
            <a:avLst>
              <a:gd name="adj" fmla="val 6667"/>
            </a:avLst>
          </a:prstGeom>
          <a:solidFill>
            <a:schemeClr val="bg2"/>
          </a:solidFill>
          <a:ln w="9525">
            <a:solidFill>
              <a:srgbClr val="D7DEE8"/>
            </a:solidFill>
            <a:prstDash val="solid"/>
          </a:ln>
        </p:spPr>
      </p:sp>
      <p:sp>
        <p:nvSpPr>
          <p:cNvPr id="24" name="Text 19"/>
          <p:cNvSpPr txBox="1"/>
          <p:nvPr/>
        </p:nvSpPr>
        <p:spPr>
          <a:xfrm>
            <a:off x="7031736" y="2514600"/>
            <a:ext cx="886968" cy="822960"/>
          </a:xfrm>
          <a:prstGeom prst="rect">
            <a:avLst/>
          </a:prstGeom>
          <a:noFill/>
          <a:ln/>
        </p:spPr>
        <p:txBody>
          <a:bodyPr wrap="square" lIns="0" tIns="0" rIns="0" bIns="0" rtlCol="0" anchor="ctr"/>
          <a:lstStyle/>
          <a:p>
            <a:pPr algn="ctr" indent="0" marL="0">
              <a:buNone/>
            </a:pPr>
            <a:r>
              <a:rPr lang="en-US" sz="1200" dirty="0">
                <a:solidFill>
                  <a:schemeClr val="tx1"/>
                </a:solidFill>
              </a:rPr>
              <a:t>작성</a:t>
            </a:r>
            <a:endParaRPr lang="en-US" sz="1200" dirty="0"/>
          </a:p>
        </p:txBody>
      </p:sp>
      <p:sp>
        <p:nvSpPr>
          <p:cNvPr id="25" name="arrow"/>
          <p:cNvSpPr/>
          <p:nvPr/>
        </p:nvSpPr>
        <p:spPr>
          <a:xfrm>
            <a:off x="7964424" y="2926080"/>
            <a:ext cx="146304" cy="0"/>
          </a:xfrm>
          <a:prstGeom prst="line">
            <a:avLst/>
          </a:prstGeom>
          <a:noFill/>
          <a:ln w="22225">
            <a:solidFill>
              <a:schemeClr val="accent6"/>
            </a:solidFill>
            <a:prstDash val="solid"/>
            <a:tailEnd type="triangle"/>
          </a:ln>
        </p:spPr>
      </p:sp>
      <p:sp>
        <p:nvSpPr>
          <p:cNvPr id="26" name="flow-step"/>
          <p:cNvSpPr/>
          <p:nvPr/>
        </p:nvSpPr>
        <p:spPr>
          <a:xfrm>
            <a:off x="8119872" y="2514600"/>
            <a:ext cx="960120" cy="822960"/>
          </a:xfrm>
          <a:prstGeom prst="roundRect">
            <a:avLst>
              <a:gd name="adj" fmla="val 6667"/>
            </a:avLst>
          </a:prstGeom>
          <a:solidFill>
            <a:schemeClr val="accent2">
              <a:alpha val="15000"/>
            </a:schemeClr>
          </a:solidFill>
          <a:ln w="9525">
            <a:solidFill>
              <a:schemeClr val="accent2"/>
            </a:solidFill>
            <a:prstDash val="solid"/>
          </a:ln>
        </p:spPr>
      </p:sp>
      <p:sp>
        <p:nvSpPr>
          <p:cNvPr id="27" name="Text 22"/>
          <p:cNvSpPr txBox="1"/>
          <p:nvPr/>
        </p:nvSpPr>
        <p:spPr>
          <a:xfrm>
            <a:off x="8156448" y="2514600"/>
            <a:ext cx="886968" cy="822960"/>
          </a:xfrm>
          <a:prstGeom prst="rect">
            <a:avLst/>
          </a:prstGeom>
          <a:noFill/>
          <a:ln/>
        </p:spPr>
        <p:txBody>
          <a:bodyPr wrap="square" lIns="0" tIns="0" rIns="0" bIns="0" rtlCol="0" anchor="ctr"/>
          <a:lstStyle/>
          <a:p>
            <a:pPr algn="ctr" indent="0" marL="0">
              <a:buNone/>
            </a:pPr>
            <a:r>
              <a:rPr lang="en-US" sz="1200" b="1" dirty="0">
                <a:solidFill>
                  <a:schemeClr val="tx1"/>
                </a:solidFill>
              </a:rPr>
              <a:t>검토자 형식 지적</a:t>
            </a:r>
            <a:endParaRPr lang="en-US" sz="1200" dirty="0"/>
          </a:p>
        </p:txBody>
      </p:sp>
      <p:sp>
        <p:nvSpPr>
          <p:cNvPr id="28" name="arrow"/>
          <p:cNvSpPr/>
          <p:nvPr/>
        </p:nvSpPr>
        <p:spPr>
          <a:xfrm>
            <a:off x="9089136" y="2926080"/>
            <a:ext cx="146304" cy="0"/>
          </a:xfrm>
          <a:prstGeom prst="line">
            <a:avLst/>
          </a:prstGeom>
          <a:noFill/>
          <a:ln w="22225">
            <a:solidFill>
              <a:schemeClr val="accent6"/>
            </a:solidFill>
            <a:prstDash val="solid"/>
            <a:tailEnd type="triangle"/>
          </a:ln>
        </p:spPr>
      </p:sp>
      <p:sp>
        <p:nvSpPr>
          <p:cNvPr id="29" name="flow-step"/>
          <p:cNvSpPr/>
          <p:nvPr/>
        </p:nvSpPr>
        <p:spPr>
          <a:xfrm>
            <a:off x="9244584" y="2514600"/>
            <a:ext cx="960120" cy="822960"/>
          </a:xfrm>
          <a:prstGeom prst="roundRect">
            <a:avLst>
              <a:gd name="adj" fmla="val 6667"/>
            </a:avLst>
          </a:prstGeom>
          <a:solidFill>
            <a:schemeClr val="bg2"/>
          </a:solidFill>
          <a:ln w="9525">
            <a:solidFill>
              <a:srgbClr val="D7DEE8"/>
            </a:solidFill>
            <a:prstDash val="solid"/>
          </a:ln>
        </p:spPr>
      </p:sp>
      <p:sp>
        <p:nvSpPr>
          <p:cNvPr id="30" name="Text 25"/>
          <p:cNvSpPr txBox="1"/>
          <p:nvPr/>
        </p:nvSpPr>
        <p:spPr>
          <a:xfrm>
            <a:off x="9281160" y="2514600"/>
            <a:ext cx="886968" cy="822960"/>
          </a:xfrm>
          <a:prstGeom prst="rect">
            <a:avLst/>
          </a:prstGeom>
          <a:noFill/>
          <a:ln/>
        </p:spPr>
        <p:txBody>
          <a:bodyPr wrap="square" lIns="0" tIns="0" rIns="0" bIns="0" rtlCol="0" anchor="ctr"/>
          <a:lstStyle/>
          <a:p>
            <a:pPr algn="ctr" indent="0" marL="0">
              <a:buNone/>
            </a:pPr>
            <a:r>
              <a:rPr lang="en-US" sz="1200" dirty="0">
                <a:solidFill>
                  <a:schemeClr val="tx1"/>
                </a:solidFill>
              </a:rPr>
              <a:t>수정</a:t>
            </a:r>
            <a:endParaRPr lang="en-US" sz="1200" dirty="0"/>
          </a:p>
        </p:txBody>
      </p:sp>
      <p:sp>
        <p:nvSpPr>
          <p:cNvPr id="31" name="arrow"/>
          <p:cNvSpPr/>
          <p:nvPr/>
        </p:nvSpPr>
        <p:spPr>
          <a:xfrm>
            <a:off x="10213848" y="2926080"/>
            <a:ext cx="146304" cy="0"/>
          </a:xfrm>
          <a:prstGeom prst="line">
            <a:avLst/>
          </a:prstGeom>
          <a:noFill/>
          <a:ln w="22225">
            <a:solidFill>
              <a:schemeClr val="accent6"/>
            </a:solidFill>
            <a:prstDash val="solid"/>
            <a:tailEnd type="triangle"/>
          </a:ln>
        </p:spPr>
      </p:sp>
      <p:sp>
        <p:nvSpPr>
          <p:cNvPr id="32" name="flow-step"/>
          <p:cNvSpPr/>
          <p:nvPr/>
        </p:nvSpPr>
        <p:spPr>
          <a:xfrm>
            <a:off x="10369296" y="2514600"/>
            <a:ext cx="960120" cy="822960"/>
          </a:xfrm>
          <a:prstGeom prst="roundRect">
            <a:avLst>
              <a:gd name="adj" fmla="val 6667"/>
            </a:avLst>
          </a:prstGeom>
          <a:solidFill>
            <a:schemeClr val="bg2"/>
          </a:solidFill>
          <a:ln w="9525">
            <a:solidFill>
              <a:srgbClr val="D7DEE8"/>
            </a:solidFill>
            <a:prstDash val="solid"/>
          </a:ln>
        </p:spPr>
      </p:sp>
      <p:sp>
        <p:nvSpPr>
          <p:cNvPr id="33" name="Text 28"/>
          <p:cNvSpPr txBox="1"/>
          <p:nvPr/>
        </p:nvSpPr>
        <p:spPr>
          <a:xfrm>
            <a:off x="10405872" y="2514600"/>
            <a:ext cx="886968" cy="822960"/>
          </a:xfrm>
          <a:prstGeom prst="rect">
            <a:avLst/>
          </a:prstGeom>
          <a:noFill/>
          <a:ln/>
        </p:spPr>
        <p:txBody>
          <a:bodyPr wrap="square" lIns="0" tIns="0" rIns="0" bIns="0" rtlCol="0" anchor="ctr"/>
          <a:lstStyle/>
          <a:p>
            <a:pPr algn="ctr" indent="0" marL="0">
              <a:buNone/>
            </a:pPr>
            <a:r>
              <a:rPr lang="en-US" sz="1200" dirty="0">
                <a:solidFill>
                  <a:schemeClr val="tx1"/>
                </a:solidFill>
              </a:rPr>
              <a:t>재검토</a:t>
            </a:r>
            <a:endParaRPr lang="en-US" sz="1200" dirty="0"/>
          </a:p>
        </p:txBody>
      </p:sp>
      <p:sp>
        <p:nvSpPr>
          <p:cNvPr id="34" name="flow-card"/>
          <p:cNvSpPr/>
          <p:nvPr/>
        </p:nvSpPr>
        <p:spPr>
          <a:xfrm>
            <a:off x="6766560" y="3931920"/>
            <a:ext cx="4846320" cy="1965960"/>
          </a:xfrm>
          <a:prstGeom prst="roundRect">
            <a:avLst>
              <a:gd name="adj" fmla="val 3721"/>
            </a:avLst>
          </a:prstGeom>
          <a:solidFill>
            <a:schemeClr val="bg1"/>
          </a:solidFill>
          <a:ln w="9525">
            <a:solidFill>
              <a:srgbClr val="D7DEE8"/>
            </a:solidFill>
            <a:prstDash val="solid"/>
          </a:ln>
        </p:spPr>
      </p:sp>
      <p:sp>
        <p:nvSpPr>
          <p:cNvPr id="35" name="flow-label"/>
          <p:cNvSpPr/>
          <p:nvPr/>
        </p:nvSpPr>
        <p:spPr>
          <a:xfrm>
            <a:off x="6995160" y="4133088"/>
            <a:ext cx="731520" cy="329184"/>
          </a:xfrm>
          <a:prstGeom prst="roundRect">
            <a:avLst>
              <a:gd name="adj" fmla="val 16667"/>
            </a:avLst>
          </a:prstGeom>
          <a:solidFill>
            <a:schemeClr val="accent5"/>
          </a:solidFill>
          <a:ln/>
        </p:spPr>
      </p:sp>
      <p:sp>
        <p:nvSpPr>
          <p:cNvPr id="36" name="Text 31"/>
          <p:cNvSpPr txBox="1"/>
          <p:nvPr/>
        </p:nvSpPr>
        <p:spPr>
          <a:xfrm>
            <a:off x="6995160" y="4133088"/>
            <a:ext cx="731520" cy="329184"/>
          </a:xfrm>
          <a:prstGeom prst="rect">
            <a:avLst/>
          </a:prstGeom>
          <a:noFill/>
          <a:ln/>
        </p:spPr>
        <p:txBody>
          <a:bodyPr wrap="square" lIns="0" tIns="0" rIns="0" bIns="0" rtlCol="0" anchor="ctr"/>
          <a:lstStyle/>
          <a:p>
            <a:pPr algn="ctr" indent="0" marL="0">
              <a:buNone/>
            </a:pPr>
            <a:r>
              <a:rPr lang="en-US" sz="1300" b="1" dirty="0">
                <a:solidFill>
                  <a:schemeClr val="bg1"/>
                </a:solidFill>
              </a:rPr>
              <a:t>목표</a:t>
            </a:r>
            <a:endParaRPr lang="en-US" sz="1300" dirty="0"/>
          </a:p>
        </p:txBody>
      </p:sp>
      <p:sp>
        <p:nvSpPr>
          <p:cNvPr id="37" name="Text 32"/>
          <p:cNvSpPr txBox="1"/>
          <p:nvPr/>
        </p:nvSpPr>
        <p:spPr>
          <a:xfrm>
            <a:off x="7863840" y="4133088"/>
            <a:ext cx="3566160" cy="329184"/>
          </a:xfrm>
          <a:prstGeom prst="rect">
            <a:avLst/>
          </a:prstGeom>
          <a:noFill/>
          <a:ln/>
        </p:spPr>
        <p:txBody>
          <a:bodyPr wrap="square" lIns="0" tIns="0" rIns="0" bIns="0" rtlCol="0" anchor="ctr"/>
          <a:lstStyle/>
          <a:p>
            <a:pPr indent="0" marL="0">
              <a:buNone/>
            </a:pPr>
            <a:r>
              <a:rPr lang="en-US" sz="1300" b="1" dirty="0">
                <a:solidFill>
                  <a:schemeClr val="accent5"/>
                </a:solidFill>
              </a:rPr>
              <a:t>검토자는 내용에 집중</a:t>
            </a:r>
            <a:endParaRPr lang="en-US" sz="1300" dirty="0"/>
          </a:p>
        </p:txBody>
      </p:sp>
      <p:sp>
        <p:nvSpPr>
          <p:cNvPr id="38" name="flow-step"/>
          <p:cNvSpPr/>
          <p:nvPr/>
        </p:nvSpPr>
        <p:spPr>
          <a:xfrm>
            <a:off x="6995160" y="4754880"/>
            <a:ext cx="960120" cy="822960"/>
          </a:xfrm>
          <a:prstGeom prst="roundRect">
            <a:avLst>
              <a:gd name="adj" fmla="val 6667"/>
            </a:avLst>
          </a:prstGeom>
          <a:solidFill>
            <a:schemeClr val="bg2"/>
          </a:solidFill>
          <a:ln w="9525">
            <a:solidFill>
              <a:srgbClr val="D7DEE8"/>
            </a:solidFill>
            <a:prstDash val="solid"/>
          </a:ln>
        </p:spPr>
      </p:sp>
      <p:sp>
        <p:nvSpPr>
          <p:cNvPr id="39" name="Text 34"/>
          <p:cNvSpPr txBox="1"/>
          <p:nvPr/>
        </p:nvSpPr>
        <p:spPr>
          <a:xfrm>
            <a:off x="7031736" y="4754880"/>
            <a:ext cx="886968" cy="822960"/>
          </a:xfrm>
          <a:prstGeom prst="rect">
            <a:avLst/>
          </a:prstGeom>
          <a:noFill/>
          <a:ln/>
        </p:spPr>
        <p:txBody>
          <a:bodyPr wrap="square" lIns="0" tIns="0" rIns="0" bIns="0" rtlCol="0" anchor="ctr"/>
          <a:lstStyle/>
          <a:p>
            <a:pPr algn="ctr" indent="0" marL="0">
              <a:buNone/>
            </a:pPr>
            <a:r>
              <a:rPr lang="en-US" sz="1200" dirty="0">
                <a:solidFill>
                  <a:schemeClr val="tx1"/>
                </a:solidFill>
              </a:rPr>
              <a:t>작성</a:t>
            </a:r>
            <a:endParaRPr lang="en-US" sz="1200" dirty="0"/>
          </a:p>
        </p:txBody>
      </p:sp>
      <p:sp>
        <p:nvSpPr>
          <p:cNvPr id="40" name="arrow"/>
          <p:cNvSpPr/>
          <p:nvPr/>
        </p:nvSpPr>
        <p:spPr>
          <a:xfrm>
            <a:off x="7964424" y="5166360"/>
            <a:ext cx="146304" cy="0"/>
          </a:xfrm>
          <a:prstGeom prst="line">
            <a:avLst/>
          </a:prstGeom>
          <a:noFill/>
          <a:ln w="22225">
            <a:solidFill>
              <a:schemeClr val="accent6"/>
            </a:solidFill>
            <a:prstDash val="solid"/>
            <a:tailEnd type="triangle"/>
          </a:ln>
        </p:spPr>
      </p:sp>
      <p:sp>
        <p:nvSpPr>
          <p:cNvPr id="41" name="flow-step"/>
          <p:cNvSpPr/>
          <p:nvPr/>
        </p:nvSpPr>
        <p:spPr>
          <a:xfrm>
            <a:off x="8119872" y="4754880"/>
            <a:ext cx="960120" cy="822960"/>
          </a:xfrm>
          <a:prstGeom prst="roundRect">
            <a:avLst>
              <a:gd name="adj" fmla="val 6667"/>
            </a:avLst>
          </a:prstGeom>
          <a:solidFill>
            <a:schemeClr val="accent5">
              <a:alpha val="15000"/>
            </a:schemeClr>
          </a:solidFill>
          <a:ln w="9525">
            <a:solidFill>
              <a:schemeClr val="accent5"/>
            </a:solidFill>
            <a:prstDash val="solid"/>
          </a:ln>
        </p:spPr>
      </p:sp>
      <p:sp>
        <p:nvSpPr>
          <p:cNvPr id="42" name="Text 37"/>
          <p:cNvSpPr txBox="1"/>
          <p:nvPr/>
        </p:nvSpPr>
        <p:spPr>
          <a:xfrm>
            <a:off x="8156448" y="4754880"/>
            <a:ext cx="886968" cy="822960"/>
          </a:xfrm>
          <a:prstGeom prst="rect">
            <a:avLst/>
          </a:prstGeom>
          <a:noFill/>
          <a:ln/>
        </p:spPr>
        <p:txBody>
          <a:bodyPr wrap="square" lIns="0" tIns="0" rIns="0" bIns="0" rtlCol="0" anchor="ctr"/>
          <a:lstStyle/>
          <a:p>
            <a:pPr algn="ctr" indent="0" marL="0">
              <a:buNone/>
            </a:pPr>
            <a:r>
              <a:rPr lang="en-US" sz="1200" b="1" dirty="0">
                <a:solidFill>
                  <a:schemeClr val="tx1"/>
                </a:solidFill>
              </a:rPr>
              <a:t>자동 점검·수정</a:t>
            </a:r>
            <a:endParaRPr lang="en-US" sz="1200" dirty="0"/>
          </a:p>
        </p:txBody>
      </p:sp>
      <p:sp>
        <p:nvSpPr>
          <p:cNvPr id="43" name="arrow"/>
          <p:cNvSpPr/>
          <p:nvPr/>
        </p:nvSpPr>
        <p:spPr>
          <a:xfrm>
            <a:off x="9089136" y="5166360"/>
            <a:ext cx="146304" cy="0"/>
          </a:xfrm>
          <a:prstGeom prst="line">
            <a:avLst/>
          </a:prstGeom>
          <a:noFill/>
          <a:ln w="22225">
            <a:solidFill>
              <a:schemeClr val="accent6"/>
            </a:solidFill>
            <a:prstDash val="solid"/>
            <a:tailEnd type="triangle"/>
          </a:ln>
        </p:spPr>
      </p:sp>
      <p:sp>
        <p:nvSpPr>
          <p:cNvPr id="44" name="flow-step"/>
          <p:cNvSpPr/>
          <p:nvPr/>
        </p:nvSpPr>
        <p:spPr>
          <a:xfrm>
            <a:off x="9244584" y="4754880"/>
            <a:ext cx="960120" cy="822960"/>
          </a:xfrm>
          <a:prstGeom prst="roundRect">
            <a:avLst>
              <a:gd name="adj" fmla="val 6667"/>
            </a:avLst>
          </a:prstGeom>
          <a:solidFill>
            <a:schemeClr val="bg2"/>
          </a:solidFill>
          <a:ln w="9525">
            <a:solidFill>
              <a:srgbClr val="D7DEE8"/>
            </a:solidFill>
            <a:prstDash val="solid"/>
          </a:ln>
        </p:spPr>
      </p:sp>
      <p:sp>
        <p:nvSpPr>
          <p:cNvPr id="45" name="Text 40"/>
          <p:cNvSpPr txBox="1"/>
          <p:nvPr/>
        </p:nvSpPr>
        <p:spPr>
          <a:xfrm>
            <a:off x="9281160" y="4754880"/>
            <a:ext cx="886968" cy="822960"/>
          </a:xfrm>
          <a:prstGeom prst="rect">
            <a:avLst/>
          </a:prstGeom>
          <a:noFill/>
          <a:ln/>
        </p:spPr>
        <p:txBody>
          <a:bodyPr wrap="square" lIns="0" tIns="0" rIns="0" bIns="0" rtlCol="0" anchor="ctr"/>
          <a:lstStyle/>
          <a:p>
            <a:pPr algn="ctr" indent="0" marL="0">
              <a:buNone/>
            </a:pPr>
            <a:r>
              <a:rPr lang="en-US" sz="1200" dirty="0">
                <a:solidFill>
                  <a:schemeClr val="tx1"/>
                </a:solidFill>
              </a:rPr>
              <a:t>검토 요청</a:t>
            </a:r>
            <a:endParaRPr lang="en-US" sz="1200" dirty="0"/>
          </a:p>
        </p:txBody>
      </p:sp>
      <p:sp>
        <p:nvSpPr>
          <p:cNvPr id="46" name="arrow"/>
          <p:cNvSpPr/>
          <p:nvPr/>
        </p:nvSpPr>
        <p:spPr>
          <a:xfrm>
            <a:off x="10213848" y="5166360"/>
            <a:ext cx="146304" cy="0"/>
          </a:xfrm>
          <a:prstGeom prst="line">
            <a:avLst/>
          </a:prstGeom>
          <a:noFill/>
          <a:ln w="22225">
            <a:solidFill>
              <a:schemeClr val="accent6"/>
            </a:solidFill>
            <a:prstDash val="solid"/>
            <a:tailEnd type="triangle"/>
          </a:ln>
        </p:spPr>
      </p:sp>
      <p:sp>
        <p:nvSpPr>
          <p:cNvPr id="47" name="flow-step"/>
          <p:cNvSpPr/>
          <p:nvPr/>
        </p:nvSpPr>
        <p:spPr>
          <a:xfrm>
            <a:off x="10369296" y="4754880"/>
            <a:ext cx="960120" cy="822960"/>
          </a:xfrm>
          <a:prstGeom prst="roundRect">
            <a:avLst>
              <a:gd name="adj" fmla="val 6667"/>
            </a:avLst>
          </a:prstGeom>
          <a:solidFill>
            <a:schemeClr val="bg2"/>
          </a:solidFill>
          <a:ln w="9525">
            <a:solidFill>
              <a:srgbClr val="D7DEE8"/>
            </a:solidFill>
            <a:prstDash val="solid"/>
          </a:ln>
        </p:spPr>
      </p:sp>
      <p:sp>
        <p:nvSpPr>
          <p:cNvPr id="48" name="Text 43"/>
          <p:cNvSpPr txBox="1"/>
          <p:nvPr/>
        </p:nvSpPr>
        <p:spPr>
          <a:xfrm>
            <a:off x="10405872" y="4754880"/>
            <a:ext cx="886968" cy="822960"/>
          </a:xfrm>
          <a:prstGeom prst="rect">
            <a:avLst/>
          </a:prstGeom>
          <a:noFill/>
          <a:ln/>
        </p:spPr>
        <p:txBody>
          <a:bodyPr wrap="square" lIns="0" tIns="0" rIns="0" bIns="0" rtlCol="0" anchor="ctr"/>
          <a:lstStyle/>
          <a:p>
            <a:pPr algn="ctr" indent="0" marL="0">
              <a:buNone/>
            </a:pPr>
            <a:r>
              <a:rPr lang="en-US" sz="1200" dirty="0">
                <a:solidFill>
                  <a:schemeClr val="tx1"/>
                </a:solidFill>
              </a:rPr>
              <a:t>내용 검토</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01  서비스 개요</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형식은 코드가, 문맥은 AI가 점검</a:t>
            </a:r>
            <a:endParaRPr lang="en-US" sz="3000" dirty="0"/>
          </a:p>
        </p:txBody>
      </p:sp>
      <p:sp>
        <p:nvSpPr>
          <p:cNvPr id="4" name="pipe-input"/>
          <p:cNvSpPr/>
          <p:nvPr/>
        </p:nvSpPr>
        <p:spPr>
          <a:xfrm>
            <a:off x="548640" y="2011680"/>
            <a:ext cx="2103120" cy="1371600"/>
          </a:xfrm>
          <a:prstGeom prst="roundRect">
            <a:avLst>
              <a:gd name="adj" fmla="val 5333"/>
            </a:avLst>
          </a:prstGeom>
          <a:solidFill>
            <a:schemeClr val="bg2"/>
          </a:solidFill>
          <a:ln/>
        </p:spPr>
      </p:sp>
      <p:sp>
        <p:nvSpPr>
          <p:cNvPr id="5" name="pipe-input-icon-bg"/>
          <p:cNvSpPr/>
          <p:nvPr/>
        </p:nvSpPr>
        <p:spPr>
          <a:xfrm>
            <a:off x="1325880" y="2148840"/>
            <a:ext cx="548640" cy="548640"/>
          </a:xfrm>
          <a:prstGeom prst="ellipse">
            <a:avLst/>
          </a:prstGeom>
          <a:solidFill>
            <a:schemeClr val="accent1"/>
          </a:solidFill>
          <a:ln/>
        </p:spPr>
      </p:sp>
      <p:pic>
        <p:nvPicPr>
          <p:cNvPr id="6" name="pipe-input-icon" descr="preencoded.png">    </p:cNvPr>
          <p:cNvPicPr>
            <a:picLocks noChangeAspect="1"/>
          </p:cNvPicPr>
          <p:nvPr/>
        </p:nvPicPr>
        <p:blipFill>
          <a:blip r:embed="rId1"/>
          <a:stretch>
            <a:fillRect/>
          </a:stretch>
        </p:blipFill>
        <p:spPr>
          <a:xfrm>
            <a:off x="1457554" y="2280514"/>
            <a:ext cx="285293" cy="285293"/>
          </a:xfrm>
          <a:prstGeom prst="rect">
            <a:avLst/>
          </a:prstGeom>
        </p:spPr>
      </p:pic>
      <p:sp>
        <p:nvSpPr>
          <p:cNvPr id="7" name="Text 4"/>
          <p:cNvSpPr txBox="1"/>
          <p:nvPr/>
        </p:nvSpPr>
        <p:spPr>
          <a:xfrm>
            <a:off x="640080" y="2743200"/>
            <a:ext cx="1920240" cy="320040"/>
          </a:xfrm>
          <a:prstGeom prst="rect">
            <a:avLst/>
          </a:prstGeom>
          <a:noFill/>
          <a:ln/>
        </p:spPr>
        <p:txBody>
          <a:bodyPr wrap="square" lIns="0" tIns="0" rIns="0" bIns="0" rtlCol="0" anchor="t"/>
          <a:lstStyle/>
          <a:p>
            <a:pPr algn="ctr" indent="0" marL="0">
              <a:buNone/>
            </a:pPr>
            <a:r>
              <a:rPr lang="en-US" sz="1600" b="1" dirty="0">
                <a:solidFill>
                  <a:schemeClr val="tx2"/>
                </a:solidFill>
              </a:rPr>
              <a:t>문서 입력</a:t>
            </a:r>
            <a:endParaRPr lang="en-US" sz="1600" dirty="0"/>
          </a:p>
        </p:txBody>
      </p:sp>
      <p:sp>
        <p:nvSpPr>
          <p:cNvPr id="8" name="Text 5"/>
          <p:cNvSpPr txBox="1"/>
          <p:nvPr/>
        </p:nvSpPr>
        <p:spPr>
          <a:xfrm>
            <a:off x="640080" y="3044952"/>
            <a:ext cx="1920240" cy="274320"/>
          </a:xfrm>
          <a:prstGeom prst="rect">
            <a:avLst/>
          </a:prstGeom>
          <a:noFill/>
          <a:ln/>
        </p:spPr>
        <p:txBody>
          <a:bodyPr wrap="square" lIns="0" tIns="0" rIns="0" bIns="0" rtlCol="0" anchor="t"/>
          <a:lstStyle/>
          <a:p>
            <a:pPr algn="ctr" indent="0" marL="0">
              <a:buNone/>
            </a:pPr>
            <a:r>
              <a:rPr lang="en-US" sz="1200" dirty="0">
                <a:solidFill>
                  <a:schemeClr val="accent6"/>
                </a:solidFill>
              </a:rPr>
              <a:t>본문 붙여넣기 + 파일명</a:t>
            </a:r>
            <a:endParaRPr lang="en-US" sz="1200" dirty="0"/>
          </a:p>
        </p:txBody>
      </p:sp>
      <p:sp>
        <p:nvSpPr>
          <p:cNvPr id="9" name="arrow"/>
          <p:cNvSpPr/>
          <p:nvPr/>
        </p:nvSpPr>
        <p:spPr>
          <a:xfrm>
            <a:off x="2697480" y="2697480"/>
            <a:ext cx="457200" cy="0"/>
          </a:xfrm>
          <a:prstGeom prst="line">
            <a:avLst/>
          </a:prstGeom>
          <a:noFill/>
          <a:ln w="22225">
            <a:solidFill>
              <a:schemeClr val="accent6"/>
            </a:solidFill>
            <a:prstDash val="solid"/>
            <a:tailEnd type="triangle"/>
          </a:ln>
        </p:spPr>
      </p:sp>
      <p:sp>
        <p:nvSpPr>
          <p:cNvPr id="10" name="pipe-judge"/>
          <p:cNvSpPr/>
          <p:nvPr/>
        </p:nvSpPr>
        <p:spPr>
          <a:xfrm>
            <a:off x="3200400" y="1691640"/>
            <a:ext cx="4206240" cy="1097280"/>
          </a:xfrm>
          <a:prstGeom prst="roundRect">
            <a:avLst>
              <a:gd name="adj" fmla="val 6667"/>
            </a:avLst>
          </a:prstGeom>
          <a:solidFill>
            <a:schemeClr val="bg1"/>
          </a:solidFill>
          <a:ln w="9525">
            <a:solidFill>
              <a:srgbClr val="D7DEE8"/>
            </a:solidFill>
            <a:prstDash val="solid"/>
          </a:ln>
        </p:spPr>
      </p:sp>
      <p:sp>
        <p:nvSpPr>
          <p:cNvPr id="11" name="pipe-judge-icon-bg"/>
          <p:cNvSpPr/>
          <p:nvPr/>
        </p:nvSpPr>
        <p:spPr>
          <a:xfrm>
            <a:off x="3383280" y="1947672"/>
            <a:ext cx="585216" cy="585216"/>
          </a:xfrm>
          <a:prstGeom prst="ellipse">
            <a:avLst/>
          </a:prstGeom>
          <a:solidFill>
            <a:schemeClr val="accent2"/>
          </a:solidFill>
          <a:ln/>
        </p:spPr>
      </p:sp>
      <p:pic>
        <p:nvPicPr>
          <p:cNvPr id="12" name="pipe-judge-icon" descr="preencoded.png">    </p:cNvPr>
          <p:cNvPicPr>
            <a:picLocks noChangeAspect="1"/>
          </p:cNvPicPr>
          <p:nvPr/>
        </p:nvPicPr>
        <p:blipFill>
          <a:blip r:embed="rId2"/>
          <a:stretch>
            <a:fillRect/>
          </a:stretch>
        </p:blipFill>
        <p:spPr>
          <a:xfrm>
            <a:off x="3523732" y="2088124"/>
            <a:ext cx="304312" cy="304312"/>
          </a:xfrm>
          <a:prstGeom prst="rect">
            <a:avLst/>
          </a:prstGeom>
        </p:spPr>
      </p:pic>
      <p:sp>
        <p:nvSpPr>
          <p:cNvPr id="13" name="Text 9"/>
          <p:cNvSpPr txBox="1"/>
          <p:nvPr/>
        </p:nvSpPr>
        <p:spPr>
          <a:xfrm>
            <a:off x="4114800" y="1856232"/>
            <a:ext cx="2194560" cy="347472"/>
          </a:xfrm>
          <a:prstGeom prst="rect">
            <a:avLst/>
          </a:prstGeom>
          <a:noFill/>
          <a:ln/>
        </p:spPr>
        <p:txBody>
          <a:bodyPr wrap="square" lIns="0" tIns="0" rIns="0" bIns="0" rtlCol="0" anchor="t"/>
          <a:lstStyle/>
          <a:p>
            <a:pPr indent="0" marL="0">
              <a:buNone/>
            </a:pPr>
            <a:r>
              <a:rPr lang="en-US" sz="1700" b="1" dirty="0">
                <a:solidFill>
                  <a:schemeClr val="tx2"/>
                </a:solidFill>
              </a:rPr>
              <a:t>코드 판정</a:t>
            </a:r>
            <a:endParaRPr lang="en-US" sz="1700" dirty="0"/>
          </a:p>
        </p:txBody>
      </p:sp>
      <p:sp>
        <p:nvSpPr>
          <p:cNvPr id="14" name="Text 10"/>
          <p:cNvSpPr txBox="1"/>
          <p:nvPr/>
        </p:nvSpPr>
        <p:spPr>
          <a:xfrm>
            <a:off x="4114800" y="2221992"/>
            <a:ext cx="2377440" cy="502920"/>
          </a:xfrm>
          <a:prstGeom prst="rect">
            <a:avLst/>
          </a:prstGeom>
          <a:noFill/>
          <a:ln/>
        </p:spPr>
        <p:txBody>
          <a:bodyPr wrap="square" lIns="0" tIns="0" rIns="0" bIns="0" rtlCol="0" anchor="t"/>
          <a:lstStyle/>
          <a:p>
            <a:pPr indent="0" marL="0">
              <a:buNone/>
            </a:pPr>
            <a:r>
              <a:rPr lang="en-US" sz="1200" dirty="0">
                <a:solidFill>
                  <a:schemeClr val="tx1"/>
                </a:solidFill>
              </a:rPr>
              <a:t>파일명·날짜·절 구조·번호 등 정규식으로 확정 판정</a:t>
            </a:r>
            <a:endParaRPr lang="en-US" sz="1200" dirty="0"/>
          </a:p>
        </p:txBody>
      </p:sp>
      <p:sp>
        <p:nvSpPr>
          <p:cNvPr id="15" name="sev-chip"/>
          <p:cNvSpPr/>
          <p:nvPr/>
        </p:nvSpPr>
        <p:spPr>
          <a:xfrm>
            <a:off x="6537960" y="2039112"/>
            <a:ext cx="731520" cy="384048"/>
          </a:xfrm>
          <a:prstGeom prst="roundRect">
            <a:avLst>
              <a:gd name="adj" fmla="val 14286"/>
            </a:avLst>
          </a:prstGeom>
          <a:solidFill>
            <a:schemeClr val="accent2">
              <a:alpha val="15000"/>
            </a:schemeClr>
          </a:solidFill>
          <a:ln w="9525">
            <a:solidFill>
              <a:schemeClr val="accent2"/>
            </a:solidFill>
            <a:prstDash val="solid"/>
          </a:ln>
        </p:spPr>
      </p:sp>
      <p:sp>
        <p:nvSpPr>
          <p:cNvPr id="16" name="Text 12"/>
          <p:cNvSpPr txBox="1"/>
          <p:nvPr/>
        </p:nvSpPr>
        <p:spPr>
          <a:xfrm>
            <a:off x="6537960" y="2039112"/>
            <a:ext cx="731520" cy="384048"/>
          </a:xfrm>
          <a:prstGeom prst="rect">
            <a:avLst/>
          </a:prstGeom>
          <a:noFill/>
          <a:ln/>
        </p:spPr>
        <p:txBody>
          <a:bodyPr wrap="square" lIns="0" tIns="0" rIns="0" bIns="0" rtlCol="0" anchor="ctr"/>
          <a:lstStyle/>
          <a:p>
            <a:pPr algn="ctr" indent="0" marL="0">
              <a:buNone/>
            </a:pPr>
            <a:r>
              <a:rPr lang="en-US" sz="1400" b="1" dirty="0">
                <a:solidFill>
                  <a:schemeClr val="accent2"/>
                </a:solidFill>
              </a:rPr>
              <a:t>필수</a:t>
            </a:r>
            <a:endParaRPr lang="en-US" sz="1400" dirty="0"/>
          </a:p>
        </p:txBody>
      </p:sp>
      <p:sp>
        <p:nvSpPr>
          <p:cNvPr id="17" name="pipe-judge"/>
          <p:cNvSpPr/>
          <p:nvPr/>
        </p:nvSpPr>
        <p:spPr>
          <a:xfrm>
            <a:off x="3200400" y="3063240"/>
            <a:ext cx="4206240" cy="1097280"/>
          </a:xfrm>
          <a:prstGeom prst="roundRect">
            <a:avLst>
              <a:gd name="adj" fmla="val 6667"/>
            </a:avLst>
          </a:prstGeom>
          <a:solidFill>
            <a:schemeClr val="bg1"/>
          </a:solidFill>
          <a:ln w="9525">
            <a:solidFill>
              <a:srgbClr val="D7DEE8"/>
            </a:solidFill>
            <a:prstDash val="solid"/>
          </a:ln>
        </p:spPr>
      </p:sp>
      <p:sp>
        <p:nvSpPr>
          <p:cNvPr id="18" name="pipe-judge-icon-bg"/>
          <p:cNvSpPr/>
          <p:nvPr/>
        </p:nvSpPr>
        <p:spPr>
          <a:xfrm>
            <a:off x="3383280" y="3319272"/>
            <a:ext cx="585216" cy="585216"/>
          </a:xfrm>
          <a:prstGeom prst="ellipse">
            <a:avLst/>
          </a:prstGeom>
          <a:solidFill>
            <a:schemeClr val="accent4"/>
          </a:solidFill>
          <a:ln/>
        </p:spPr>
      </p:sp>
      <p:pic>
        <p:nvPicPr>
          <p:cNvPr id="19" name="pipe-judge-icon" descr="preencoded.png">    </p:cNvPr>
          <p:cNvPicPr>
            <a:picLocks noChangeAspect="1"/>
          </p:cNvPicPr>
          <p:nvPr/>
        </p:nvPicPr>
        <p:blipFill>
          <a:blip r:embed="rId3"/>
          <a:stretch>
            <a:fillRect/>
          </a:stretch>
        </p:blipFill>
        <p:spPr>
          <a:xfrm>
            <a:off x="3523732" y="3459724"/>
            <a:ext cx="304312" cy="304312"/>
          </a:xfrm>
          <a:prstGeom prst="rect">
            <a:avLst/>
          </a:prstGeom>
        </p:spPr>
      </p:pic>
      <p:sp>
        <p:nvSpPr>
          <p:cNvPr id="20" name="Text 15"/>
          <p:cNvSpPr txBox="1"/>
          <p:nvPr/>
        </p:nvSpPr>
        <p:spPr>
          <a:xfrm>
            <a:off x="4114800" y="3227832"/>
            <a:ext cx="2194560" cy="347472"/>
          </a:xfrm>
          <a:prstGeom prst="rect">
            <a:avLst/>
          </a:prstGeom>
          <a:noFill/>
          <a:ln/>
        </p:spPr>
        <p:txBody>
          <a:bodyPr wrap="square" lIns="0" tIns="0" rIns="0" bIns="0" rtlCol="0" anchor="t"/>
          <a:lstStyle/>
          <a:p>
            <a:pPr indent="0" marL="0">
              <a:buNone/>
            </a:pPr>
            <a:r>
              <a:rPr lang="en-US" sz="1700" b="1" dirty="0">
                <a:solidFill>
                  <a:schemeClr val="tx2"/>
                </a:solidFill>
              </a:rPr>
              <a:t>AI 판정</a:t>
            </a:r>
            <a:endParaRPr lang="en-US" sz="1700" dirty="0"/>
          </a:p>
        </p:txBody>
      </p:sp>
      <p:sp>
        <p:nvSpPr>
          <p:cNvPr id="21" name="Text 16"/>
          <p:cNvSpPr txBox="1"/>
          <p:nvPr/>
        </p:nvSpPr>
        <p:spPr>
          <a:xfrm>
            <a:off x="4114800" y="3593592"/>
            <a:ext cx="2377440" cy="502920"/>
          </a:xfrm>
          <a:prstGeom prst="rect">
            <a:avLst/>
          </a:prstGeom>
          <a:noFill/>
          <a:ln/>
        </p:spPr>
        <p:txBody>
          <a:bodyPr wrap="square" lIns="0" tIns="0" rIns="0" bIns="0" rtlCol="0" anchor="t"/>
          <a:lstStyle/>
          <a:p>
            <a:pPr indent="0" marL="0">
              <a:buNone/>
            </a:pPr>
            <a:r>
              <a:rPr lang="en-US" sz="1200" dirty="0">
                <a:solidFill>
                  <a:schemeClr val="tx1"/>
                </a:solidFill>
              </a:rPr>
              <a:t>문체·문장 분리·이유 충분성 등 문맥 판단</a:t>
            </a:r>
            <a:endParaRPr lang="en-US" sz="1200" dirty="0"/>
          </a:p>
        </p:txBody>
      </p:sp>
      <p:sp>
        <p:nvSpPr>
          <p:cNvPr id="22" name="sev-chip"/>
          <p:cNvSpPr/>
          <p:nvPr/>
        </p:nvSpPr>
        <p:spPr>
          <a:xfrm>
            <a:off x="6537960" y="3410712"/>
            <a:ext cx="731520" cy="384048"/>
          </a:xfrm>
          <a:prstGeom prst="roundRect">
            <a:avLst>
              <a:gd name="adj" fmla="val 14286"/>
            </a:avLst>
          </a:prstGeom>
          <a:solidFill>
            <a:schemeClr val="accent4">
              <a:alpha val="15000"/>
            </a:schemeClr>
          </a:solidFill>
          <a:ln w="9525">
            <a:solidFill>
              <a:schemeClr val="accent4"/>
            </a:solidFill>
            <a:prstDash val="solid"/>
          </a:ln>
        </p:spPr>
      </p:sp>
      <p:sp>
        <p:nvSpPr>
          <p:cNvPr id="23" name="Text 18"/>
          <p:cNvSpPr txBox="1"/>
          <p:nvPr/>
        </p:nvSpPr>
        <p:spPr>
          <a:xfrm>
            <a:off x="6537960" y="3410712"/>
            <a:ext cx="731520" cy="384048"/>
          </a:xfrm>
          <a:prstGeom prst="rect">
            <a:avLst/>
          </a:prstGeom>
          <a:noFill/>
          <a:ln/>
        </p:spPr>
        <p:txBody>
          <a:bodyPr wrap="square" lIns="0" tIns="0" rIns="0" bIns="0" rtlCol="0" anchor="ctr"/>
          <a:lstStyle/>
          <a:p>
            <a:pPr algn="ctr" indent="0" marL="0">
              <a:buNone/>
            </a:pPr>
            <a:r>
              <a:rPr lang="en-US" sz="1400" b="1" dirty="0">
                <a:solidFill>
                  <a:schemeClr val="accent4"/>
                </a:solidFill>
              </a:rPr>
              <a:t>권고</a:t>
            </a:r>
            <a:endParaRPr lang="en-US" sz="1400" dirty="0"/>
          </a:p>
        </p:txBody>
      </p:sp>
      <p:sp>
        <p:nvSpPr>
          <p:cNvPr id="24" name="arrow"/>
          <p:cNvSpPr/>
          <p:nvPr/>
        </p:nvSpPr>
        <p:spPr>
          <a:xfrm>
            <a:off x="7452360" y="2697480"/>
            <a:ext cx="457200" cy="0"/>
          </a:xfrm>
          <a:prstGeom prst="line">
            <a:avLst/>
          </a:prstGeom>
          <a:noFill/>
          <a:ln w="22225">
            <a:solidFill>
              <a:schemeClr val="accent6"/>
            </a:solidFill>
            <a:prstDash val="solid"/>
            <a:tailEnd type="triangle"/>
          </a:ln>
        </p:spPr>
      </p:sp>
      <p:sp>
        <p:nvSpPr>
          <p:cNvPr id="25" name="pipe-state"/>
          <p:cNvSpPr/>
          <p:nvPr/>
        </p:nvSpPr>
        <p:spPr>
          <a:xfrm>
            <a:off x="7955280" y="1691640"/>
            <a:ext cx="3657600" cy="2468880"/>
          </a:xfrm>
          <a:prstGeom prst="roundRect">
            <a:avLst>
              <a:gd name="adj" fmla="val 2963"/>
            </a:avLst>
          </a:prstGeom>
          <a:solidFill>
            <a:schemeClr val="bg2"/>
          </a:solidFill>
          <a:ln/>
        </p:spPr>
      </p:sp>
      <p:sp>
        <p:nvSpPr>
          <p:cNvPr id="26" name="Text 21"/>
          <p:cNvSpPr txBox="1"/>
          <p:nvPr/>
        </p:nvSpPr>
        <p:spPr>
          <a:xfrm>
            <a:off x="8183880" y="1828800"/>
            <a:ext cx="3200400" cy="347472"/>
          </a:xfrm>
          <a:prstGeom prst="rect">
            <a:avLst/>
          </a:prstGeom>
          <a:noFill/>
          <a:ln/>
        </p:spPr>
        <p:txBody>
          <a:bodyPr wrap="square" lIns="0" tIns="0" rIns="0" bIns="0" rtlCol="0" anchor="t"/>
          <a:lstStyle/>
          <a:p>
            <a:pPr indent="0" marL="0">
              <a:buNone/>
            </a:pPr>
            <a:r>
              <a:rPr lang="en-US" sz="1600" b="1" dirty="0">
                <a:solidFill>
                  <a:schemeClr val="tx2"/>
                </a:solidFill>
              </a:rPr>
              <a:t>판정 상태</a:t>
            </a:r>
            <a:endParaRPr lang="en-US" sz="1600" dirty="0"/>
          </a:p>
        </p:txBody>
      </p:sp>
      <p:sp>
        <p:nvSpPr>
          <p:cNvPr id="27" name="state-row"/>
          <p:cNvSpPr/>
          <p:nvPr/>
        </p:nvSpPr>
        <p:spPr>
          <a:xfrm>
            <a:off x="8183880" y="2331720"/>
            <a:ext cx="3200400" cy="685800"/>
          </a:xfrm>
          <a:prstGeom prst="roundRect">
            <a:avLst>
              <a:gd name="adj" fmla="val 8000"/>
            </a:avLst>
          </a:prstGeom>
          <a:solidFill>
            <a:schemeClr val="bg1"/>
          </a:solidFill>
          <a:ln w="9525">
            <a:solidFill>
              <a:srgbClr val="D7DEE8"/>
            </a:solidFill>
            <a:prstDash val="solid"/>
          </a:ln>
        </p:spPr>
      </p:sp>
      <p:sp>
        <p:nvSpPr>
          <p:cNvPr id="28" name="state-dot"/>
          <p:cNvSpPr/>
          <p:nvPr/>
        </p:nvSpPr>
        <p:spPr>
          <a:xfrm>
            <a:off x="8339328" y="2578608"/>
            <a:ext cx="201168" cy="201168"/>
          </a:xfrm>
          <a:prstGeom prst="ellipse">
            <a:avLst/>
          </a:prstGeom>
          <a:solidFill>
            <a:schemeClr val="accent2"/>
          </a:solidFill>
          <a:ln/>
        </p:spPr>
      </p:sp>
      <p:sp>
        <p:nvSpPr>
          <p:cNvPr id="29" name="Text 24"/>
          <p:cNvSpPr txBox="1"/>
          <p:nvPr/>
        </p:nvSpPr>
        <p:spPr>
          <a:xfrm>
            <a:off x="8641080" y="2331720"/>
            <a:ext cx="1280160" cy="685800"/>
          </a:xfrm>
          <a:prstGeom prst="rect">
            <a:avLst/>
          </a:prstGeom>
          <a:noFill/>
          <a:ln/>
        </p:spPr>
        <p:txBody>
          <a:bodyPr wrap="square" lIns="0" tIns="0" rIns="0" bIns="0" rtlCol="0" anchor="ctr"/>
          <a:lstStyle/>
          <a:p>
            <a:pPr indent="0" marL="0">
              <a:buNone/>
            </a:pPr>
            <a:r>
              <a:rPr lang="en-US" sz="1300" dirty="0">
                <a:solidFill>
                  <a:schemeClr val="accent6"/>
                </a:solidFill>
              </a:rPr>
              <a:t>필수 1건 이상</a:t>
            </a:r>
            <a:endParaRPr lang="en-US" sz="1300" dirty="0"/>
          </a:p>
        </p:txBody>
      </p:sp>
      <p:sp>
        <p:nvSpPr>
          <p:cNvPr id="30" name="Text 25"/>
          <p:cNvSpPr txBox="1"/>
          <p:nvPr/>
        </p:nvSpPr>
        <p:spPr>
          <a:xfrm>
            <a:off x="9875520" y="2331720"/>
            <a:ext cx="1463040" cy="685800"/>
          </a:xfrm>
          <a:prstGeom prst="rect">
            <a:avLst/>
          </a:prstGeom>
          <a:noFill/>
          <a:ln/>
        </p:spPr>
        <p:txBody>
          <a:bodyPr wrap="square" lIns="0" tIns="0" rIns="0" bIns="0" rtlCol="0" anchor="ctr"/>
          <a:lstStyle/>
          <a:p>
            <a:pPr indent="0" marL="0">
              <a:buNone/>
            </a:pPr>
            <a:r>
              <a:rPr lang="en-US" sz="1500" b="1" dirty="0">
                <a:solidFill>
                  <a:schemeClr val="accent2"/>
                </a:solidFill>
              </a:rPr>
              <a:t>보완 필요</a:t>
            </a:r>
            <a:endParaRPr lang="en-US" sz="1500" dirty="0"/>
          </a:p>
        </p:txBody>
      </p:sp>
      <p:sp>
        <p:nvSpPr>
          <p:cNvPr id="31" name="state-row"/>
          <p:cNvSpPr/>
          <p:nvPr/>
        </p:nvSpPr>
        <p:spPr>
          <a:xfrm>
            <a:off x="8183880" y="3200400"/>
            <a:ext cx="3200400" cy="685800"/>
          </a:xfrm>
          <a:prstGeom prst="roundRect">
            <a:avLst>
              <a:gd name="adj" fmla="val 8000"/>
            </a:avLst>
          </a:prstGeom>
          <a:solidFill>
            <a:schemeClr val="bg1"/>
          </a:solidFill>
          <a:ln w="9525">
            <a:solidFill>
              <a:srgbClr val="D7DEE8"/>
            </a:solidFill>
            <a:prstDash val="solid"/>
          </a:ln>
        </p:spPr>
      </p:sp>
      <p:sp>
        <p:nvSpPr>
          <p:cNvPr id="32" name="state-dot"/>
          <p:cNvSpPr/>
          <p:nvPr/>
        </p:nvSpPr>
        <p:spPr>
          <a:xfrm>
            <a:off x="8339328" y="3447288"/>
            <a:ext cx="201168" cy="201168"/>
          </a:xfrm>
          <a:prstGeom prst="ellipse">
            <a:avLst/>
          </a:prstGeom>
          <a:solidFill>
            <a:schemeClr val="accent5"/>
          </a:solidFill>
          <a:ln/>
        </p:spPr>
      </p:sp>
      <p:sp>
        <p:nvSpPr>
          <p:cNvPr id="33" name="Text 28"/>
          <p:cNvSpPr txBox="1"/>
          <p:nvPr/>
        </p:nvSpPr>
        <p:spPr>
          <a:xfrm>
            <a:off x="8641080" y="3200400"/>
            <a:ext cx="1280160" cy="685800"/>
          </a:xfrm>
          <a:prstGeom prst="rect">
            <a:avLst/>
          </a:prstGeom>
          <a:noFill/>
          <a:ln/>
        </p:spPr>
        <p:txBody>
          <a:bodyPr wrap="square" lIns="0" tIns="0" rIns="0" bIns="0" rtlCol="0" anchor="ctr"/>
          <a:lstStyle/>
          <a:p>
            <a:pPr indent="0" marL="0">
              <a:buNone/>
            </a:pPr>
            <a:r>
              <a:rPr lang="en-US" sz="1300" dirty="0">
                <a:solidFill>
                  <a:schemeClr val="accent6"/>
                </a:solidFill>
              </a:rPr>
              <a:t>필수 0건</a:t>
            </a:r>
            <a:endParaRPr lang="en-US" sz="1300" dirty="0"/>
          </a:p>
        </p:txBody>
      </p:sp>
      <p:sp>
        <p:nvSpPr>
          <p:cNvPr id="34" name="Text 29"/>
          <p:cNvSpPr txBox="1"/>
          <p:nvPr/>
        </p:nvSpPr>
        <p:spPr>
          <a:xfrm>
            <a:off x="9875520" y="3200400"/>
            <a:ext cx="1463040" cy="685800"/>
          </a:xfrm>
          <a:prstGeom prst="rect">
            <a:avLst/>
          </a:prstGeom>
          <a:noFill/>
          <a:ln/>
        </p:spPr>
        <p:txBody>
          <a:bodyPr wrap="square" lIns="0" tIns="0" rIns="0" bIns="0" rtlCol="0" anchor="ctr"/>
          <a:lstStyle/>
          <a:p>
            <a:pPr indent="0" marL="0">
              <a:buNone/>
            </a:pPr>
            <a:r>
              <a:rPr lang="en-US" sz="1500" b="1" dirty="0">
                <a:solidFill>
                  <a:schemeClr val="accent5"/>
                </a:solidFill>
              </a:rPr>
              <a:t>검토 요청 가능</a:t>
            </a:r>
            <a:endParaRPr lang="en-US" sz="1500" dirty="0"/>
          </a:p>
        </p:txBody>
      </p:sp>
      <p:sp>
        <p:nvSpPr>
          <p:cNvPr id="35" name="principle"/>
          <p:cNvSpPr/>
          <p:nvPr/>
        </p:nvSpPr>
        <p:spPr>
          <a:xfrm>
            <a:off x="548640" y="4572000"/>
            <a:ext cx="6858000" cy="1508760"/>
          </a:xfrm>
          <a:prstGeom prst="roundRect">
            <a:avLst>
              <a:gd name="adj" fmla="val 4848"/>
            </a:avLst>
          </a:prstGeom>
          <a:solidFill>
            <a:schemeClr val="accent4">
              <a:alpha val="8000"/>
            </a:schemeClr>
          </a:solidFill>
          <a:ln/>
        </p:spPr>
      </p:sp>
      <p:sp>
        <p:nvSpPr>
          <p:cNvPr id="36" name="principle-icon-bg"/>
          <p:cNvSpPr/>
          <p:nvPr/>
        </p:nvSpPr>
        <p:spPr>
          <a:xfrm>
            <a:off x="777240" y="4846320"/>
            <a:ext cx="566928" cy="566928"/>
          </a:xfrm>
          <a:prstGeom prst="ellipse">
            <a:avLst/>
          </a:prstGeom>
          <a:solidFill>
            <a:schemeClr val="accent4"/>
          </a:solidFill>
          <a:ln/>
        </p:spPr>
      </p:sp>
      <p:pic>
        <p:nvPicPr>
          <p:cNvPr id="37" name="principle-icon" descr="preencoded.png">    </p:cNvPr>
          <p:cNvPicPr>
            <a:picLocks noChangeAspect="1"/>
          </p:cNvPicPr>
          <p:nvPr/>
        </p:nvPicPr>
        <p:blipFill>
          <a:blip r:embed="rId4"/>
          <a:stretch>
            <a:fillRect/>
          </a:stretch>
        </p:blipFill>
        <p:spPr>
          <a:xfrm>
            <a:off x="913303" y="4982383"/>
            <a:ext cx="294803" cy="294803"/>
          </a:xfrm>
          <a:prstGeom prst="rect">
            <a:avLst/>
          </a:prstGeom>
        </p:spPr>
      </p:pic>
      <p:sp>
        <p:nvSpPr>
          <p:cNvPr id="38" name="Text 32"/>
          <p:cNvSpPr txBox="1"/>
          <p:nvPr/>
        </p:nvSpPr>
        <p:spPr>
          <a:xfrm>
            <a:off x="1554480" y="4754880"/>
            <a:ext cx="5669280" cy="347472"/>
          </a:xfrm>
          <a:prstGeom prst="rect">
            <a:avLst/>
          </a:prstGeom>
          <a:noFill/>
          <a:ln/>
        </p:spPr>
        <p:txBody>
          <a:bodyPr wrap="square" lIns="0" tIns="0" rIns="0" bIns="0" rtlCol="0" anchor="t"/>
          <a:lstStyle/>
          <a:p>
            <a:pPr indent="0" marL="0">
              <a:buNone/>
            </a:pPr>
            <a:r>
              <a:rPr lang="en-US" sz="1600" b="1" dirty="0">
                <a:solidFill>
                  <a:schemeClr val="accent4"/>
                </a:solidFill>
              </a:rPr>
              <a:t>핵심 설계 원칙</a:t>
            </a:r>
            <a:endParaRPr lang="en-US" sz="1600" dirty="0"/>
          </a:p>
        </p:txBody>
      </p:sp>
      <p:sp>
        <p:nvSpPr>
          <p:cNvPr id="39" name="Text 33"/>
          <p:cNvSpPr txBox="1"/>
          <p:nvPr/>
        </p:nvSpPr>
        <p:spPr>
          <a:xfrm>
            <a:off x="1554480" y="5120640"/>
            <a:ext cx="5669280" cy="822960"/>
          </a:xfrm>
          <a:prstGeom prst="rect">
            <a:avLst/>
          </a:prstGeom>
          <a:noFill/>
          <a:ln/>
        </p:spPr>
        <p:txBody>
          <a:bodyPr wrap="square" lIns="0" tIns="0" rIns="0" bIns="0" rtlCol="0" anchor="t"/>
          <a:lstStyle/>
          <a:p>
            <a:pPr indent="0" marL="0">
              <a:buNone/>
            </a:pPr>
            <a:r>
              <a:rPr lang="en-US" sz="1400" dirty="0">
                <a:solidFill>
                  <a:schemeClr val="tx1"/>
                </a:solidFill>
              </a:rPr>
              <a:t>AI 오판이 검토 요청을 막지 않도록 AI 판정은 "권고"로만 분류. 확정 판정이 가능한 형식 규칙만 "필수"로 검토 요청을 차단</a:t>
            </a:r>
            <a:endParaRPr lang="en-US" sz="1400" dirty="0"/>
          </a:p>
        </p:txBody>
      </p:sp>
      <p:sp>
        <p:nvSpPr>
          <p:cNvPr id="40" name="rules-summary"/>
          <p:cNvSpPr/>
          <p:nvPr/>
        </p:nvSpPr>
        <p:spPr>
          <a:xfrm>
            <a:off x="7955280" y="4572000"/>
            <a:ext cx="3657600" cy="1508760"/>
          </a:xfrm>
          <a:prstGeom prst="roundRect">
            <a:avLst>
              <a:gd name="adj" fmla="val 4848"/>
            </a:avLst>
          </a:prstGeom>
          <a:solidFill>
            <a:schemeClr val="bg1"/>
          </a:solidFill>
          <a:ln w="9525">
            <a:solidFill>
              <a:srgbClr val="D7DEE8"/>
            </a:solidFill>
            <a:prstDash val="solid"/>
          </a:ln>
        </p:spPr>
      </p:sp>
      <p:sp>
        <p:nvSpPr>
          <p:cNvPr id="41" name="Text 35"/>
          <p:cNvSpPr txBox="1"/>
          <p:nvPr/>
        </p:nvSpPr>
        <p:spPr>
          <a:xfrm>
            <a:off x="8183880" y="4754880"/>
            <a:ext cx="3200400" cy="347472"/>
          </a:xfrm>
          <a:prstGeom prst="rect">
            <a:avLst/>
          </a:prstGeom>
          <a:noFill/>
          <a:ln/>
        </p:spPr>
        <p:txBody>
          <a:bodyPr wrap="square" lIns="0" tIns="0" rIns="0" bIns="0" rtlCol="0" anchor="t"/>
          <a:lstStyle/>
          <a:p>
            <a:pPr indent="0" marL="0">
              <a:buNone/>
            </a:pPr>
            <a:r>
              <a:rPr lang="en-US" sz="1600" b="1" dirty="0">
                <a:solidFill>
                  <a:schemeClr val="tx2"/>
                </a:solidFill>
              </a:rPr>
              <a:t>규칙 9개</a:t>
            </a:r>
            <a:endParaRPr lang="en-US" sz="1600" dirty="0"/>
          </a:p>
        </p:txBody>
      </p:sp>
      <p:sp>
        <p:nvSpPr>
          <p:cNvPr id="42" name="Text 36"/>
          <p:cNvSpPr txBox="1"/>
          <p:nvPr/>
        </p:nvSpPr>
        <p:spPr>
          <a:xfrm>
            <a:off x="8183880" y="5138928"/>
            <a:ext cx="3291840" cy="8229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공통 6 · 회의록 1 · 절차서 2</a:t>
            </a:r>
            <a:endParaRPr lang="en-US" sz="1300" dirty="0"/>
          </a:p>
          <a:p>
            <a:pPr indent="0" marL="0">
              <a:spcAft>
                <a:spcPts val="400"/>
              </a:spcAft>
              <a:buNone/>
            </a:pPr>
            <a:r>
              <a:rPr lang="en-US" sz="1300" dirty="0">
                <a:solidFill>
                  <a:schemeClr val="tx1"/>
                </a:solidFill>
              </a:rPr>
              <a:t>규칙마다 판정 주체·심각도·존재 이유 명시</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02  주요 기능</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작성부터 승인까지 6가지 기능</a:t>
            </a:r>
            <a:endParaRPr lang="en-US" sz="3000" dirty="0"/>
          </a:p>
        </p:txBody>
      </p:sp>
      <p:sp>
        <p:nvSpPr>
          <p:cNvPr id="4" name="feature-card"/>
          <p:cNvSpPr/>
          <p:nvPr/>
        </p:nvSpPr>
        <p:spPr>
          <a:xfrm>
            <a:off x="548640" y="1691640"/>
            <a:ext cx="3520440" cy="2057400"/>
          </a:xfrm>
          <a:prstGeom prst="roundRect">
            <a:avLst>
              <a:gd name="adj" fmla="val 3556"/>
            </a:avLst>
          </a:prstGeom>
          <a:solidFill>
            <a:schemeClr val="bg1"/>
          </a:solidFill>
          <a:ln w="9525">
            <a:solidFill>
              <a:srgbClr val="D7DEE8"/>
            </a:solidFill>
            <a:prstDash val="solid"/>
          </a:ln>
          <a:effectLst>
            <a:outerShdw sx="100000" sy="100000" kx="0" ky="0" algn="bl" rotWithShape="0" blurRad="76200" dist="25400" dir="5400000">
              <a:srgbClr val="000000">
                <a:alpha val="12000"/>
              </a:srgbClr>
            </a:outerShdw>
          </a:effectLst>
        </p:spPr>
      </p:sp>
      <p:sp>
        <p:nvSpPr>
          <p:cNvPr id="5" name="feature-icon-bg"/>
          <p:cNvSpPr/>
          <p:nvPr/>
        </p:nvSpPr>
        <p:spPr>
          <a:xfrm>
            <a:off x="822960" y="1965960"/>
            <a:ext cx="658368" cy="658368"/>
          </a:xfrm>
          <a:prstGeom prst="ellipse">
            <a:avLst/>
          </a:prstGeom>
          <a:solidFill>
            <a:schemeClr val="accent1"/>
          </a:solidFill>
          <a:ln/>
        </p:spPr>
      </p:sp>
      <p:pic>
        <p:nvPicPr>
          <p:cNvPr id="6" name="feature-icon" descr="preencoded.png">    </p:cNvPr>
          <p:cNvPicPr>
            <a:picLocks noChangeAspect="1"/>
          </p:cNvPicPr>
          <p:nvPr/>
        </p:nvPicPr>
        <p:blipFill>
          <a:blip r:embed="rId1"/>
          <a:stretch>
            <a:fillRect/>
          </a:stretch>
        </p:blipFill>
        <p:spPr>
          <a:xfrm>
            <a:off x="980968" y="2123968"/>
            <a:ext cx="342351" cy="342351"/>
          </a:xfrm>
          <a:prstGeom prst="rect">
            <a:avLst/>
          </a:prstGeom>
        </p:spPr>
      </p:pic>
      <p:sp>
        <p:nvSpPr>
          <p:cNvPr id="7" name="who-chip"/>
          <p:cNvSpPr/>
          <p:nvPr/>
        </p:nvSpPr>
        <p:spPr>
          <a:xfrm>
            <a:off x="3063240" y="2057400"/>
            <a:ext cx="777240" cy="292608"/>
          </a:xfrm>
          <a:prstGeom prst="roundRect">
            <a:avLst>
              <a:gd name="adj" fmla="val 18750"/>
            </a:avLst>
          </a:prstGeom>
          <a:solidFill>
            <a:schemeClr val="accent1">
              <a:alpha val="12000"/>
            </a:schemeClr>
          </a:solidFill>
          <a:ln/>
        </p:spPr>
      </p:sp>
      <p:sp>
        <p:nvSpPr>
          <p:cNvPr id="8" name="Text 5"/>
          <p:cNvSpPr txBox="1"/>
          <p:nvPr/>
        </p:nvSpPr>
        <p:spPr>
          <a:xfrm>
            <a:off x="3063240" y="2057400"/>
            <a:ext cx="777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작성자</a:t>
            </a:r>
            <a:endParaRPr lang="en-US" sz="1100" dirty="0"/>
          </a:p>
        </p:txBody>
      </p:sp>
      <p:sp>
        <p:nvSpPr>
          <p:cNvPr id="9" name="Text 6"/>
          <p:cNvSpPr txBox="1"/>
          <p:nvPr/>
        </p:nvSpPr>
        <p:spPr>
          <a:xfrm>
            <a:off x="822960" y="27432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1. 규칙 점검</a:t>
            </a:r>
            <a:endParaRPr lang="en-US" sz="1700" dirty="0"/>
          </a:p>
        </p:txBody>
      </p:sp>
      <p:sp>
        <p:nvSpPr>
          <p:cNvPr id="10" name="Text 7"/>
          <p:cNvSpPr txBox="1"/>
          <p:nvPr/>
        </p:nvSpPr>
        <p:spPr>
          <a:xfrm>
            <a:off x="822960" y="3108960"/>
            <a:ext cx="3017520" cy="566928"/>
          </a:xfrm>
          <a:prstGeom prst="rect">
            <a:avLst/>
          </a:prstGeom>
          <a:noFill/>
          <a:ln/>
        </p:spPr>
        <p:txBody>
          <a:bodyPr wrap="square" lIns="0" tIns="0" rIns="0" bIns="0" rtlCol="0" anchor="t"/>
          <a:lstStyle/>
          <a:p>
            <a:pPr indent="0" marL="0">
              <a:buNone/>
            </a:pPr>
            <a:r>
              <a:rPr lang="en-US" sz="1300" dirty="0">
                <a:solidFill>
                  <a:schemeClr val="tx1"/>
                </a:solidFill>
              </a:rPr>
              <a:t>9개 규칙 자동 판정. 위반 위치(절·행)와 근거 조항 표시</a:t>
            </a:r>
            <a:endParaRPr lang="en-US" sz="1300" dirty="0"/>
          </a:p>
        </p:txBody>
      </p:sp>
      <p:sp>
        <p:nvSpPr>
          <p:cNvPr id="11" name="feature-card"/>
          <p:cNvSpPr/>
          <p:nvPr/>
        </p:nvSpPr>
        <p:spPr>
          <a:xfrm>
            <a:off x="4297680" y="1691640"/>
            <a:ext cx="3520440" cy="2057400"/>
          </a:xfrm>
          <a:prstGeom prst="roundRect">
            <a:avLst>
              <a:gd name="adj" fmla="val 3556"/>
            </a:avLst>
          </a:prstGeom>
          <a:solidFill>
            <a:schemeClr val="bg1"/>
          </a:solidFill>
          <a:ln w="9525">
            <a:solidFill>
              <a:srgbClr val="D7DEE8"/>
            </a:solidFill>
            <a:prstDash val="solid"/>
          </a:ln>
          <a:effectLst>
            <a:outerShdw sx="100000" sy="100000" kx="0" ky="0" algn="bl" rotWithShape="0" blurRad="76200" dist="25400" dir="5400000">
              <a:srgbClr val="000000">
                <a:alpha val="12000"/>
              </a:srgbClr>
            </a:outerShdw>
          </a:effectLst>
        </p:spPr>
      </p:sp>
      <p:sp>
        <p:nvSpPr>
          <p:cNvPr id="12" name="feature-icon-bg"/>
          <p:cNvSpPr/>
          <p:nvPr/>
        </p:nvSpPr>
        <p:spPr>
          <a:xfrm>
            <a:off x="4572000" y="1965960"/>
            <a:ext cx="658368" cy="658368"/>
          </a:xfrm>
          <a:prstGeom prst="ellipse">
            <a:avLst/>
          </a:prstGeom>
          <a:solidFill>
            <a:schemeClr val="accent1"/>
          </a:solidFill>
          <a:ln/>
        </p:spPr>
      </p:sp>
      <p:pic>
        <p:nvPicPr>
          <p:cNvPr id="13" name="feature-icon" descr="preencoded.png">    </p:cNvPr>
          <p:cNvPicPr>
            <a:picLocks noChangeAspect="1"/>
          </p:cNvPicPr>
          <p:nvPr/>
        </p:nvPicPr>
        <p:blipFill>
          <a:blip r:embed="rId2"/>
          <a:stretch>
            <a:fillRect/>
          </a:stretch>
        </p:blipFill>
        <p:spPr>
          <a:xfrm>
            <a:off x="4730008" y="2123968"/>
            <a:ext cx="342351" cy="342351"/>
          </a:xfrm>
          <a:prstGeom prst="rect">
            <a:avLst/>
          </a:prstGeom>
        </p:spPr>
      </p:pic>
      <p:sp>
        <p:nvSpPr>
          <p:cNvPr id="14" name="who-chip"/>
          <p:cNvSpPr/>
          <p:nvPr/>
        </p:nvSpPr>
        <p:spPr>
          <a:xfrm>
            <a:off x="6812280" y="2057400"/>
            <a:ext cx="777240" cy="292608"/>
          </a:xfrm>
          <a:prstGeom prst="roundRect">
            <a:avLst>
              <a:gd name="adj" fmla="val 18750"/>
            </a:avLst>
          </a:prstGeom>
          <a:solidFill>
            <a:schemeClr val="accent1">
              <a:alpha val="12000"/>
            </a:schemeClr>
          </a:solidFill>
          <a:ln/>
        </p:spPr>
      </p:sp>
      <p:sp>
        <p:nvSpPr>
          <p:cNvPr id="15" name="Text 11"/>
          <p:cNvSpPr txBox="1"/>
          <p:nvPr/>
        </p:nvSpPr>
        <p:spPr>
          <a:xfrm>
            <a:off x="6812280" y="2057400"/>
            <a:ext cx="777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작성자</a:t>
            </a:r>
            <a:endParaRPr lang="en-US" sz="1100" dirty="0"/>
          </a:p>
        </p:txBody>
      </p:sp>
      <p:sp>
        <p:nvSpPr>
          <p:cNvPr id="16" name="Text 12"/>
          <p:cNvSpPr txBox="1"/>
          <p:nvPr/>
        </p:nvSpPr>
        <p:spPr>
          <a:xfrm>
            <a:off x="4572000" y="27432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2. 수정안 제시·적용</a:t>
            </a:r>
            <a:endParaRPr lang="en-US" sz="1700" dirty="0"/>
          </a:p>
        </p:txBody>
      </p:sp>
      <p:sp>
        <p:nvSpPr>
          <p:cNvPr id="17" name="Text 13"/>
          <p:cNvSpPr txBox="1"/>
          <p:nvPr/>
        </p:nvSpPr>
        <p:spPr>
          <a:xfrm>
            <a:off x="4572000" y="3108960"/>
            <a:ext cx="3017520" cy="566928"/>
          </a:xfrm>
          <a:prstGeom prst="rect">
            <a:avLst/>
          </a:prstGeom>
          <a:noFill/>
          <a:ln/>
        </p:spPr>
        <p:txBody>
          <a:bodyPr wrap="square" lIns="0" tIns="0" rIns="0" bIns="0" rtlCol="0" anchor="t"/>
          <a:lstStyle/>
          <a:p>
            <a:pPr indent="0" marL="0">
              <a:buNone/>
            </a:pPr>
            <a:r>
              <a:rPr lang="en-US" sz="1300" dirty="0">
                <a:solidFill>
                  <a:schemeClr val="tx1"/>
                </a:solidFill>
              </a:rPr>
              <a:t>필수는 "적용" 한 번에 자동 수정, 권고는 수락·거부 선택</a:t>
            </a:r>
            <a:endParaRPr lang="en-US" sz="1300" dirty="0"/>
          </a:p>
        </p:txBody>
      </p:sp>
      <p:sp>
        <p:nvSpPr>
          <p:cNvPr id="18" name="feature-card"/>
          <p:cNvSpPr/>
          <p:nvPr/>
        </p:nvSpPr>
        <p:spPr>
          <a:xfrm>
            <a:off x="8046720" y="1691640"/>
            <a:ext cx="3520440" cy="2057400"/>
          </a:xfrm>
          <a:prstGeom prst="roundRect">
            <a:avLst>
              <a:gd name="adj" fmla="val 3556"/>
            </a:avLst>
          </a:prstGeom>
          <a:solidFill>
            <a:schemeClr val="bg1"/>
          </a:solidFill>
          <a:ln w="9525">
            <a:solidFill>
              <a:srgbClr val="D7DEE8"/>
            </a:solidFill>
            <a:prstDash val="solid"/>
          </a:ln>
          <a:effectLst>
            <a:outerShdw sx="100000" sy="100000" kx="0" ky="0" algn="bl" rotWithShape="0" blurRad="76200" dist="25400" dir="5400000">
              <a:srgbClr val="000000">
                <a:alpha val="12000"/>
              </a:srgbClr>
            </a:outerShdw>
          </a:effectLst>
        </p:spPr>
      </p:sp>
      <p:sp>
        <p:nvSpPr>
          <p:cNvPr id="19" name="feature-icon-bg"/>
          <p:cNvSpPr/>
          <p:nvPr/>
        </p:nvSpPr>
        <p:spPr>
          <a:xfrm>
            <a:off x="8321040" y="1965960"/>
            <a:ext cx="658368" cy="658368"/>
          </a:xfrm>
          <a:prstGeom prst="ellipse">
            <a:avLst/>
          </a:prstGeom>
          <a:solidFill>
            <a:schemeClr val="accent1"/>
          </a:solidFill>
          <a:ln/>
        </p:spPr>
      </p:sp>
      <p:pic>
        <p:nvPicPr>
          <p:cNvPr id="20" name="feature-icon" descr="preencoded.png">    </p:cNvPr>
          <p:cNvPicPr>
            <a:picLocks noChangeAspect="1"/>
          </p:cNvPicPr>
          <p:nvPr/>
        </p:nvPicPr>
        <p:blipFill>
          <a:blip r:embed="rId3"/>
          <a:stretch>
            <a:fillRect/>
          </a:stretch>
        </p:blipFill>
        <p:spPr>
          <a:xfrm>
            <a:off x="8479048" y="2123968"/>
            <a:ext cx="342351" cy="342351"/>
          </a:xfrm>
          <a:prstGeom prst="rect">
            <a:avLst/>
          </a:prstGeom>
        </p:spPr>
      </p:pic>
      <p:sp>
        <p:nvSpPr>
          <p:cNvPr id="21" name="who-chip"/>
          <p:cNvSpPr/>
          <p:nvPr/>
        </p:nvSpPr>
        <p:spPr>
          <a:xfrm>
            <a:off x="10561320" y="2057400"/>
            <a:ext cx="777240" cy="292608"/>
          </a:xfrm>
          <a:prstGeom prst="roundRect">
            <a:avLst>
              <a:gd name="adj" fmla="val 18750"/>
            </a:avLst>
          </a:prstGeom>
          <a:solidFill>
            <a:schemeClr val="accent1">
              <a:alpha val="12000"/>
            </a:schemeClr>
          </a:solidFill>
          <a:ln/>
        </p:spPr>
      </p:sp>
      <p:sp>
        <p:nvSpPr>
          <p:cNvPr id="22" name="Text 17"/>
          <p:cNvSpPr txBox="1"/>
          <p:nvPr/>
        </p:nvSpPr>
        <p:spPr>
          <a:xfrm>
            <a:off x="10561320" y="2057400"/>
            <a:ext cx="777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작성자</a:t>
            </a:r>
            <a:endParaRPr lang="en-US" sz="1100" dirty="0"/>
          </a:p>
        </p:txBody>
      </p:sp>
      <p:sp>
        <p:nvSpPr>
          <p:cNvPr id="23" name="Text 18"/>
          <p:cNvSpPr txBox="1"/>
          <p:nvPr/>
        </p:nvSpPr>
        <p:spPr>
          <a:xfrm>
            <a:off x="8321040" y="27432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3. 수정본 미리보기</a:t>
            </a:r>
            <a:endParaRPr lang="en-US" sz="1700" dirty="0"/>
          </a:p>
        </p:txBody>
      </p:sp>
      <p:sp>
        <p:nvSpPr>
          <p:cNvPr id="24" name="Text 19"/>
          <p:cNvSpPr txBox="1"/>
          <p:nvPr/>
        </p:nvSpPr>
        <p:spPr>
          <a:xfrm>
            <a:off x="8321040" y="3108960"/>
            <a:ext cx="3017520" cy="566928"/>
          </a:xfrm>
          <a:prstGeom prst="rect">
            <a:avLst/>
          </a:prstGeom>
          <a:noFill/>
          <a:ln/>
        </p:spPr>
        <p:txBody>
          <a:bodyPr wrap="square" lIns="0" tIns="0" rIns="0" bIns="0" rtlCol="0" anchor="t"/>
          <a:lstStyle/>
          <a:p>
            <a:pPr indent="0" marL="0">
              <a:buNone/>
            </a:pPr>
            <a:r>
              <a:rPr lang="en-US" sz="1300" dirty="0">
                <a:solidFill>
                  <a:schemeClr val="tx1"/>
                </a:solidFill>
              </a:rPr>
              <a:t>원본 대비 변경 줄 비교(삭제·추가), 텍스트 다운로드</a:t>
            </a:r>
            <a:endParaRPr lang="en-US" sz="1300" dirty="0"/>
          </a:p>
        </p:txBody>
      </p:sp>
      <p:sp>
        <p:nvSpPr>
          <p:cNvPr id="25" name="feature-card"/>
          <p:cNvSpPr/>
          <p:nvPr/>
        </p:nvSpPr>
        <p:spPr>
          <a:xfrm>
            <a:off x="548640" y="3977640"/>
            <a:ext cx="3520440" cy="2057400"/>
          </a:xfrm>
          <a:prstGeom prst="roundRect">
            <a:avLst>
              <a:gd name="adj" fmla="val 3556"/>
            </a:avLst>
          </a:prstGeom>
          <a:solidFill>
            <a:schemeClr val="bg1"/>
          </a:solidFill>
          <a:ln w="9525">
            <a:solidFill>
              <a:srgbClr val="D7DEE8"/>
            </a:solidFill>
            <a:prstDash val="solid"/>
          </a:ln>
          <a:effectLst>
            <a:outerShdw sx="100000" sy="100000" kx="0" ky="0" algn="bl" rotWithShape="0" blurRad="76200" dist="25400" dir="5400000">
              <a:srgbClr val="000000">
                <a:alpha val="12000"/>
              </a:srgbClr>
            </a:outerShdw>
          </a:effectLst>
        </p:spPr>
      </p:sp>
      <p:sp>
        <p:nvSpPr>
          <p:cNvPr id="26" name="feature-icon-bg"/>
          <p:cNvSpPr/>
          <p:nvPr/>
        </p:nvSpPr>
        <p:spPr>
          <a:xfrm>
            <a:off x="822960" y="4251960"/>
            <a:ext cx="658368" cy="658368"/>
          </a:xfrm>
          <a:prstGeom prst="ellipse">
            <a:avLst/>
          </a:prstGeom>
          <a:solidFill>
            <a:schemeClr val="accent1"/>
          </a:solidFill>
          <a:ln/>
        </p:spPr>
      </p:sp>
      <p:pic>
        <p:nvPicPr>
          <p:cNvPr id="27" name="feature-icon" descr="preencoded.png">    </p:cNvPr>
          <p:cNvPicPr>
            <a:picLocks noChangeAspect="1"/>
          </p:cNvPicPr>
          <p:nvPr/>
        </p:nvPicPr>
        <p:blipFill>
          <a:blip r:embed="rId4"/>
          <a:stretch>
            <a:fillRect/>
          </a:stretch>
        </p:blipFill>
        <p:spPr>
          <a:xfrm>
            <a:off x="980968" y="4409968"/>
            <a:ext cx="342351" cy="342351"/>
          </a:xfrm>
          <a:prstGeom prst="rect">
            <a:avLst/>
          </a:prstGeom>
        </p:spPr>
      </p:pic>
      <p:sp>
        <p:nvSpPr>
          <p:cNvPr id="28" name="who-chip"/>
          <p:cNvSpPr/>
          <p:nvPr/>
        </p:nvSpPr>
        <p:spPr>
          <a:xfrm>
            <a:off x="3063240" y="4343400"/>
            <a:ext cx="777240" cy="292608"/>
          </a:xfrm>
          <a:prstGeom prst="roundRect">
            <a:avLst>
              <a:gd name="adj" fmla="val 18750"/>
            </a:avLst>
          </a:prstGeom>
          <a:solidFill>
            <a:schemeClr val="accent1">
              <a:alpha val="12000"/>
            </a:schemeClr>
          </a:solidFill>
          <a:ln/>
        </p:spPr>
      </p:sp>
      <p:sp>
        <p:nvSpPr>
          <p:cNvPr id="29" name="Text 23"/>
          <p:cNvSpPr txBox="1"/>
          <p:nvPr/>
        </p:nvSpPr>
        <p:spPr>
          <a:xfrm>
            <a:off x="3063240" y="4343400"/>
            <a:ext cx="777240" cy="292608"/>
          </a:xfrm>
          <a:prstGeom prst="rect">
            <a:avLst/>
          </a:prstGeom>
          <a:noFill/>
          <a:ln/>
        </p:spPr>
        <p:txBody>
          <a:bodyPr wrap="square" lIns="0" tIns="0" rIns="0" bIns="0" rtlCol="0" anchor="ctr"/>
          <a:lstStyle/>
          <a:p>
            <a:pPr algn="ctr" indent="0" marL="0">
              <a:buNone/>
            </a:pPr>
            <a:r>
              <a:rPr lang="en-US" sz="1100" b="1" dirty="0">
                <a:solidFill>
                  <a:schemeClr val="accent1"/>
                </a:solidFill>
              </a:rPr>
              <a:t>작성자</a:t>
            </a:r>
            <a:endParaRPr lang="en-US" sz="1100" dirty="0"/>
          </a:p>
        </p:txBody>
      </p:sp>
      <p:sp>
        <p:nvSpPr>
          <p:cNvPr id="30" name="Text 24"/>
          <p:cNvSpPr txBox="1"/>
          <p:nvPr/>
        </p:nvSpPr>
        <p:spPr>
          <a:xfrm>
            <a:off x="822960" y="50292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4. 검토 요청</a:t>
            </a:r>
            <a:endParaRPr lang="en-US" sz="1700" dirty="0"/>
          </a:p>
        </p:txBody>
      </p:sp>
      <p:sp>
        <p:nvSpPr>
          <p:cNvPr id="31" name="Text 25"/>
          <p:cNvSpPr txBox="1"/>
          <p:nvPr/>
        </p:nvSpPr>
        <p:spPr>
          <a:xfrm>
            <a:off x="822960" y="5394960"/>
            <a:ext cx="3017520" cy="566928"/>
          </a:xfrm>
          <a:prstGeom prst="rect">
            <a:avLst/>
          </a:prstGeom>
          <a:noFill/>
          <a:ln/>
        </p:spPr>
        <p:txBody>
          <a:bodyPr wrap="square" lIns="0" tIns="0" rIns="0" bIns="0" rtlCol="0" anchor="t"/>
          <a:lstStyle/>
          <a:p>
            <a:pPr indent="0" marL="0">
              <a:buNone/>
            </a:pPr>
            <a:r>
              <a:rPr lang="en-US" sz="1300" dirty="0">
                <a:solidFill>
                  <a:schemeClr val="tx1"/>
                </a:solidFill>
              </a:rPr>
              <a:t>필수 0건일 때만 활성. 검토자 지정·요청 메모·알림</a:t>
            </a:r>
            <a:endParaRPr lang="en-US" sz="1300" dirty="0"/>
          </a:p>
        </p:txBody>
      </p:sp>
      <p:sp>
        <p:nvSpPr>
          <p:cNvPr id="32" name="feature-card"/>
          <p:cNvSpPr/>
          <p:nvPr/>
        </p:nvSpPr>
        <p:spPr>
          <a:xfrm>
            <a:off x="4297680" y="3977640"/>
            <a:ext cx="3520440" cy="2057400"/>
          </a:xfrm>
          <a:prstGeom prst="roundRect">
            <a:avLst>
              <a:gd name="adj" fmla="val 3556"/>
            </a:avLst>
          </a:prstGeom>
          <a:solidFill>
            <a:schemeClr val="bg1"/>
          </a:solidFill>
          <a:ln w="9525">
            <a:solidFill>
              <a:srgbClr val="D7DEE8"/>
            </a:solidFill>
            <a:prstDash val="solid"/>
          </a:ln>
          <a:effectLst>
            <a:outerShdw sx="100000" sy="100000" kx="0" ky="0" algn="bl" rotWithShape="0" blurRad="76200" dist="25400" dir="5400000">
              <a:srgbClr val="000000">
                <a:alpha val="12000"/>
              </a:srgbClr>
            </a:outerShdw>
          </a:effectLst>
        </p:spPr>
      </p:sp>
      <p:sp>
        <p:nvSpPr>
          <p:cNvPr id="33" name="feature-icon-bg"/>
          <p:cNvSpPr/>
          <p:nvPr/>
        </p:nvSpPr>
        <p:spPr>
          <a:xfrm>
            <a:off x="4572000" y="4251960"/>
            <a:ext cx="658368" cy="658368"/>
          </a:xfrm>
          <a:prstGeom prst="ellipse">
            <a:avLst/>
          </a:prstGeom>
          <a:solidFill>
            <a:schemeClr val="accent1"/>
          </a:solidFill>
          <a:ln/>
        </p:spPr>
      </p:sp>
      <p:pic>
        <p:nvPicPr>
          <p:cNvPr id="34" name="feature-icon" descr="preencoded.png">    </p:cNvPr>
          <p:cNvPicPr>
            <a:picLocks noChangeAspect="1"/>
          </p:cNvPicPr>
          <p:nvPr/>
        </p:nvPicPr>
        <p:blipFill>
          <a:blip r:embed="rId5"/>
          <a:stretch>
            <a:fillRect/>
          </a:stretch>
        </p:blipFill>
        <p:spPr>
          <a:xfrm>
            <a:off x="4730008" y="4409968"/>
            <a:ext cx="342351" cy="342351"/>
          </a:xfrm>
          <a:prstGeom prst="rect">
            <a:avLst/>
          </a:prstGeom>
        </p:spPr>
      </p:pic>
      <p:sp>
        <p:nvSpPr>
          <p:cNvPr id="35" name="who-chip"/>
          <p:cNvSpPr/>
          <p:nvPr/>
        </p:nvSpPr>
        <p:spPr>
          <a:xfrm>
            <a:off x="6812280" y="4343400"/>
            <a:ext cx="777240" cy="292608"/>
          </a:xfrm>
          <a:prstGeom prst="roundRect">
            <a:avLst>
              <a:gd name="adj" fmla="val 18750"/>
            </a:avLst>
          </a:prstGeom>
          <a:solidFill>
            <a:schemeClr val="accent5">
              <a:alpha val="12000"/>
            </a:schemeClr>
          </a:solidFill>
          <a:ln/>
        </p:spPr>
      </p:sp>
      <p:sp>
        <p:nvSpPr>
          <p:cNvPr id="36" name="Text 29"/>
          <p:cNvSpPr txBox="1"/>
          <p:nvPr/>
        </p:nvSpPr>
        <p:spPr>
          <a:xfrm>
            <a:off x="6812280" y="4343400"/>
            <a:ext cx="777240" cy="292608"/>
          </a:xfrm>
          <a:prstGeom prst="rect">
            <a:avLst/>
          </a:prstGeom>
          <a:noFill/>
          <a:ln/>
        </p:spPr>
        <p:txBody>
          <a:bodyPr wrap="square" lIns="0" tIns="0" rIns="0" bIns="0" rtlCol="0" anchor="ctr"/>
          <a:lstStyle/>
          <a:p>
            <a:pPr algn="ctr" indent="0" marL="0">
              <a:buNone/>
            </a:pPr>
            <a:r>
              <a:rPr lang="en-US" sz="1100" b="1" dirty="0">
                <a:solidFill>
                  <a:schemeClr val="accent5"/>
                </a:solidFill>
              </a:rPr>
              <a:t>검토자</a:t>
            </a:r>
            <a:endParaRPr lang="en-US" sz="1100" dirty="0"/>
          </a:p>
        </p:txBody>
      </p:sp>
      <p:sp>
        <p:nvSpPr>
          <p:cNvPr id="37" name="Text 30"/>
          <p:cNvSpPr txBox="1"/>
          <p:nvPr/>
        </p:nvSpPr>
        <p:spPr>
          <a:xfrm>
            <a:off x="4572000" y="50292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5. 검토·승인</a:t>
            </a:r>
            <a:endParaRPr lang="en-US" sz="1700" dirty="0"/>
          </a:p>
        </p:txBody>
      </p:sp>
      <p:sp>
        <p:nvSpPr>
          <p:cNvPr id="38" name="Text 31"/>
          <p:cNvSpPr txBox="1"/>
          <p:nvPr/>
        </p:nvSpPr>
        <p:spPr>
          <a:xfrm>
            <a:off x="4572000" y="5394960"/>
            <a:ext cx="3017520" cy="566928"/>
          </a:xfrm>
          <a:prstGeom prst="rect">
            <a:avLst/>
          </a:prstGeom>
          <a:noFill/>
          <a:ln/>
        </p:spPr>
        <p:txBody>
          <a:bodyPr wrap="square" lIns="0" tIns="0" rIns="0" bIns="0" rtlCol="0" anchor="t"/>
          <a:lstStyle/>
          <a:p>
            <a:pPr indent="0" marL="0">
              <a:buNone/>
            </a:pPr>
            <a:r>
              <a:rPr lang="en-US" sz="1300" dirty="0">
                <a:solidFill>
                  <a:schemeClr val="tx1"/>
                </a:solidFill>
              </a:rPr>
              <a:t>거부한 권고까지 함께 확인. 승인 시 문서목록 자동 등록</a:t>
            </a:r>
            <a:endParaRPr lang="en-US" sz="1300" dirty="0"/>
          </a:p>
        </p:txBody>
      </p:sp>
      <p:sp>
        <p:nvSpPr>
          <p:cNvPr id="39" name="feature-card"/>
          <p:cNvSpPr/>
          <p:nvPr/>
        </p:nvSpPr>
        <p:spPr>
          <a:xfrm>
            <a:off x="8046720" y="3977640"/>
            <a:ext cx="3520440" cy="2057400"/>
          </a:xfrm>
          <a:prstGeom prst="roundRect">
            <a:avLst>
              <a:gd name="adj" fmla="val 3556"/>
            </a:avLst>
          </a:prstGeom>
          <a:solidFill>
            <a:schemeClr val="bg1"/>
          </a:solidFill>
          <a:ln w="9525">
            <a:solidFill>
              <a:srgbClr val="D7DEE8"/>
            </a:solidFill>
            <a:prstDash val="solid"/>
          </a:ln>
          <a:effectLst>
            <a:outerShdw sx="100000" sy="100000" kx="0" ky="0" algn="bl" rotWithShape="0" blurRad="76200" dist="25400" dir="5400000">
              <a:srgbClr val="000000">
                <a:alpha val="12000"/>
              </a:srgbClr>
            </a:outerShdw>
          </a:effectLst>
        </p:spPr>
      </p:sp>
      <p:sp>
        <p:nvSpPr>
          <p:cNvPr id="40" name="feature-icon-bg"/>
          <p:cNvSpPr/>
          <p:nvPr/>
        </p:nvSpPr>
        <p:spPr>
          <a:xfrm>
            <a:off x="8321040" y="4251960"/>
            <a:ext cx="658368" cy="658368"/>
          </a:xfrm>
          <a:prstGeom prst="ellipse">
            <a:avLst/>
          </a:prstGeom>
          <a:solidFill>
            <a:schemeClr val="accent1"/>
          </a:solidFill>
          <a:ln/>
        </p:spPr>
      </p:sp>
      <p:pic>
        <p:nvPicPr>
          <p:cNvPr id="41" name="feature-icon" descr="preencoded.png">    </p:cNvPr>
          <p:cNvPicPr>
            <a:picLocks noChangeAspect="1"/>
          </p:cNvPicPr>
          <p:nvPr/>
        </p:nvPicPr>
        <p:blipFill>
          <a:blip r:embed="rId6"/>
          <a:stretch>
            <a:fillRect/>
          </a:stretch>
        </p:blipFill>
        <p:spPr>
          <a:xfrm>
            <a:off x="8479048" y="4409968"/>
            <a:ext cx="342351" cy="342351"/>
          </a:xfrm>
          <a:prstGeom prst="rect">
            <a:avLst/>
          </a:prstGeom>
        </p:spPr>
      </p:pic>
      <p:sp>
        <p:nvSpPr>
          <p:cNvPr id="42" name="who-chip"/>
          <p:cNvSpPr/>
          <p:nvPr/>
        </p:nvSpPr>
        <p:spPr>
          <a:xfrm>
            <a:off x="10561320" y="4343400"/>
            <a:ext cx="777240" cy="292608"/>
          </a:xfrm>
          <a:prstGeom prst="roundRect">
            <a:avLst>
              <a:gd name="adj" fmla="val 18750"/>
            </a:avLst>
          </a:prstGeom>
          <a:solidFill>
            <a:schemeClr val="accent6">
              <a:alpha val="12000"/>
            </a:schemeClr>
          </a:solidFill>
          <a:ln/>
        </p:spPr>
      </p:sp>
      <p:sp>
        <p:nvSpPr>
          <p:cNvPr id="43" name="Text 35"/>
          <p:cNvSpPr txBox="1"/>
          <p:nvPr/>
        </p:nvSpPr>
        <p:spPr>
          <a:xfrm>
            <a:off x="10561320" y="4343400"/>
            <a:ext cx="777240" cy="292608"/>
          </a:xfrm>
          <a:prstGeom prst="rect">
            <a:avLst/>
          </a:prstGeom>
          <a:noFill/>
          <a:ln/>
        </p:spPr>
        <p:txBody>
          <a:bodyPr wrap="square" lIns="0" tIns="0" rIns="0" bIns="0" rtlCol="0" anchor="ctr"/>
          <a:lstStyle/>
          <a:p>
            <a:pPr algn="ctr" indent="0" marL="0">
              <a:buNone/>
            </a:pPr>
            <a:r>
              <a:rPr lang="en-US" sz="1100" b="1" dirty="0">
                <a:solidFill>
                  <a:schemeClr val="accent6"/>
                </a:solidFill>
              </a:rPr>
              <a:t>공통</a:t>
            </a:r>
            <a:endParaRPr lang="en-US" sz="1100" dirty="0"/>
          </a:p>
        </p:txBody>
      </p:sp>
      <p:sp>
        <p:nvSpPr>
          <p:cNvPr id="44" name="Text 36"/>
          <p:cNvSpPr txBox="1"/>
          <p:nvPr/>
        </p:nvSpPr>
        <p:spPr>
          <a:xfrm>
            <a:off x="8321040" y="50292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6. 규칙 질의</a:t>
            </a:r>
            <a:endParaRPr lang="en-US" sz="1700" dirty="0"/>
          </a:p>
        </p:txBody>
      </p:sp>
      <p:sp>
        <p:nvSpPr>
          <p:cNvPr id="45" name="Text 37"/>
          <p:cNvSpPr txBox="1"/>
          <p:nvPr/>
        </p:nvSpPr>
        <p:spPr>
          <a:xfrm>
            <a:off x="8321040" y="5394960"/>
            <a:ext cx="3017520" cy="566928"/>
          </a:xfrm>
          <a:prstGeom prst="rect">
            <a:avLst/>
          </a:prstGeom>
          <a:noFill/>
          <a:ln/>
        </p:spPr>
        <p:txBody>
          <a:bodyPr wrap="square" lIns="0" tIns="0" rIns="0" bIns="0" rtlCol="0" anchor="t"/>
          <a:lstStyle/>
          <a:p>
            <a:pPr indent="0" marL="0">
              <a:buNone/>
            </a:pPr>
            <a:r>
              <a:rPr lang="en-US" sz="1300" dirty="0">
                <a:solidFill>
                  <a:schemeClr val="tx1"/>
                </a:solidFill>
              </a:rPr>
              <a:t>"이 규칙 왜 있어?" 질문에 근거 규칙과 함께 답변</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02  사용자 이용 흐름</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작성자와 검토자, 두 역할의 흐름</a:t>
            </a:r>
            <a:endParaRPr lang="en-US" sz="3000" dirty="0"/>
          </a:p>
        </p:txBody>
      </p:sp>
      <p:sp>
        <p:nvSpPr>
          <p:cNvPr id="4" name="lane"/>
          <p:cNvSpPr/>
          <p:nvPr/>
        </p:nvSpPr>
        <p:spPr>
          <a:xfrm>
            <a:off x="548640" y="1600200"/>
            <a:ext cx="11064240" cy="1737360"/>
          </a:xfrm>
          <a:prstGeom prst="roundRect">
            <a:avLst>
              <a:gd name="adj" fmla="val 4211"/>
            </a:avLst>
          </a:prstGeom>
          <a:solidFill>
            <a:schemeClr val="bg2"/>
          </a:solidFill>
          <a:ln/>
        </p:spPr>
      </p:sp>
      <p:sp>
        <p:nvSpPr>
          <p:cNvPr id="5" name="lane-icon-bg"/>
          <p:cNvSpPr/>
          <p:nvPr/>
        </p:nvSpPr>
        <p:spPr>
          <a:xfrm>
            <a:off x="822960" y="2011680"/>
            <a:ext cx="640080" cy="640080"/>
          </a:xfrm>
          <a:prstGeom prst="ellipse">
            <a:avLst/>
          </a:prstGeom>
          <a:solidFill>
            <a:schemeClr val="accent1"/>
          </a:solidFill>
          <a:ln/>
        </p:spPr>
      </p:sp>
      <p:pic>
        <p:nvPicPr>
          <p:cNvPr id="6" name="lane-icon" descr="preencoded.png">    </p:cNvPr>
          <p:cNvPicPr>
            <a:picLocks noChangeAspect="1"/>
          </p:cNvPicPr>
          <p:nvPr/>
        </p:nvPicPr>
        <p:blipFill>
          <a:blip r:embed="rId1"/>
          <a:stretch>
            <a:fillRect/>
          </a:stretch>
        </p:blipFill>
        <p:spPr>
          <a:xfrm>
            <a:off x="976579" y="2165299"/>
            <a:ext cx="332842" cy="332842"/>
          </a:xfrm>
          <a:prstGeom prst="rect">
            <a:avLst/>
          </a:prstGeom>
        </p:spPr>
      </p:pic>
      <p:sp>
        <p:nvSpPr>
          <p:cNvPr id="7" name="Text 4"/>
          <p:cNvSpPr txBox="1"/>
          <p:nvPr/>
        </p:nvSpPr>
        <p:spPr>
          <a:xfrm>
            <a:off x="685800" y="2697480"/>
            <a:ext cx="914400" cy="320040"/>
          </a:xfrm>
          <a:prstGeom prst="rect">
            <a:avLst/>
          </a:prstGeom>
          <a:noFill/>
          <a:ln/>
        </p:spPr>
        <p:txBody>
          <a:bodyPr wrap="square" lIns="0" tIns="0" rIns="0" bIns="0" rtlCol="0" anchor="t"/>
          <a:lstStyle/>
          <a:p>
            <a:pPr algn="ctr" indent="0" marL="0">
              <a:buNone/>
            </a:pPr>
            <a:r>
              <a:rPr lang="en-US" sz="1500" b="1" dirty="0">
                <a:solidFill>
                  <a:schemeClr val="accent1"/>
                </a:solidFill>
              </a:rPr>
              <a:t>작성자</a:t>
            </a:r>
            <a:endParaRPr lang="en-US" sz="1500" dirty="0"/>
          </a:p>
        </p:txBody>
      </p:sp>
      <p:sp>
        <p:nvSpPr>
          <p:cNvPr id="8" name="step"/>
          <p:cNvSpPr/>
          <p:nvPr/>
        </p:nvSpPr>
        <p:spPr>
          <a:xfrm>
            <a:off x="1920240" y="2011680"/>
            <a:ext cx="1874520" cy="914400"/>
          </a:xfrm>
          <a:prstGeom prst="roundRect">
            <a:avLst>
              <a:gd name="adj" fmla="val 8000"/>
            </a:avLst>
          </a:prstGeom>
          <a:solidFill>
            <a:schemeClr val="bg1"/>
          </a:solidFill>
          <a:ln w="15875">
            <a:solidFill>
              <a:schemeClr val="accent1"/>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1920240" y="2011680"/>
            <a:ext cx="1874520" cy="914400"/>
          </a:xfrm>
          <a:prstGeom prst="rect">
            <a:avLst/>
          </a:prstGeom>
          <a:noFill/>
          <a:ln/>
        </p:spPr>
        <p:txBody>
          <a:bodyPr wrap="square" lIns="0" tIns="0" rIns="0" bIns="0" rtlCol="0" anchor="ctr"/>
          <a:lstStyle/>
          <a:p>
            <a:pPr algn="ctr" indent="0" marL="0">
              <a:buNone/>
            </a:pPr>
            <a:r>
              <a:rPr lang="en-US" sz="1600" b="1" dirty="0">
                <a:solidFill>
                  <a:schemeClr val="tx2"/>
                </a:solidFill>
              </a:rPr>
              <a:t>문서 입력</a:t>
            </a:r>
            <a:endParaRPr lang="en-US" sz="1600" dirty="0"/>
          </a:p>
        </p:txBody>
      </p:sp>
      <p:sp>
        <p:nvSpPr>
          <p:cNvPr id="10" name="arrow"/>
          <p:cNvSpPr/>
          <p:nvPr/>
        </p:nvSpPr>
        <p:spPr>
          <a:xfrm>
            <a:off x="3840480" y="2468880"/>
            <a:ext cx="365760" cy="0"/>
          </a:xfrm>
          <a:prstGeom prst="line">
            <a:avLst/>
          </a:prstGeom>
          <a:noFill/>
          <a:ln w="22225">
            <a:solidFill>
              <a:schemeClr val="accent6"/>
            </a:solidFill>
            <a:prstDash val="solid"/>
            <a:tailEnd type="triangle"/>
          </a:ln>
        </p:spPr>
      </p:sp>
      <p:sp>
        <p:nvSpPr>
          <p:cNvPr id="11" name="step"/>
          <p:cNvSpPr/>
          <p:nvPr/>
        </p:nvSpPr>
        <p:spPr>
          <a:xfrm>
            <a:off x="4251960" y="2011680"/>
            <a:ext cx="1874520" cy="914400"/>
          </a:xfrm>
          <a:prstGeom prst="roundRect">
            <a:avLst>
              <a:gd name="adj" fmla="val 8000"/>
            </a:avLst>
          </a:prstGeom>
          <a:solidFill>
            <a:schemeClr val="bg1"/>
          </a:solidFill>
          <a:ln w="15875">
            <a:solidFill>
              <a:schemeClr val="accent1"/>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4251960" y="2011680"/>
            <a:ext cx="1874520" cy="914400"/>
          </a:xfrm>
          <a:prstGeom prst="rect">
            <a:avLst/>
          </a:prstGeom>
          <a:noFill/>
          <a:ln/>
        </p:spPr>
        <p:txBody>
          <a:bodyPr wrap="square" lIns="0" tIns="0" rIns="0" bIns="0" rtlCol="0" anchor="ctr"/>
          <a:lstStyle/>
          <a:p>
            <a:pPr algn="ctr" indent="0" marL="0">
              <a:buNone/>
            </a:pPr>
            <a:r>
              <a:rPr lang="en-US" sz="1600" b="1" dirty="0">
                <a:solidFill>
                  <a:schemeClr val="tx2"/>
                </a:solidFill>
              </a:rPr>
              <a:t>점검 결과 확인</a:t>
            </a:r>
            <a:endParaRPr lang="en-US" sz="1600" dirty="0"/>
          </a:p>
        </p:txBody>
      </p:sp>
      <p:sp>
        <p:nvSpPr>
          <p:cNvPr id="13" name="arrow"/>
          <p:cNvSpPr/>
          <p:nvPr/>
        </p:nvSpPr>
        <p:spPr>
          <a:xfrm>
            <a:off x="6172200" y="2468880"/>
            <a:ext cx="365760" cy="0"/>
          </a:xfrm>
          <a:prstGeom prst="line">
            <a:avLst/>
          </a:prstGeom>
          <a:noFill/>
          <a:ln w="22225">
            <a:solidFill>
              <a:schemeClr val="accent6"/>
            </a:solidFill>
            <a:prstDash val="solid"/>
            <a:tailEnd type="triangle"/>
          </a:ln>
        </p:spPr>
      </p:sp>
      <p:sp>
        <p:nvSpPr>
          <p:cNvPr id="14" name="step"/>
          <p:cNvSpPr/>
          <p:nvPr/>
        </p:nvSpPr>
        <p:spPr>
          <a:xfrm>
            <a:off x="6583680" y="2011680"/>
            <a:ext cx="1874520" cy="914400"/>
          </a:xfrm>
          <a:prstGeom prst="roundRect">
            <a:avLst>
              <a:gd name="adj" fmla="val 8000"/>
            </a:avLst>
          </a:prstGeom>
          <a:solidFill>
            <a:schemeClr val="bg1"/>
          </a:solidFill>
          <a:ln w="15875">
            <a:solidFill>
              <a:schemeClr val="accent1"/>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6583680" y="2011680"/>
            <a:ext cx="1874520" cy="914400"/>
          </a:xfrm>
          <a:prstGeom prst="rect">
            <a:avLst/>
          </a:prstGeom>
          <a:noFill/>
          <a:ln/>
        </p:spPr>
        <p:txBody>
          <a:bodyPr wrap="square" lIns="0" tIns="0" rIns="0" bIns="0" rtlCol="0" anchor="ctr"/>
          <a:lstStyle/>
          <a:p>
            <a:pPr algn="ctr" indent="0" marL="0">
              <a:buNone/>
            </a:pPr>
            <a:r>
              <a:rPr lang="en-US" sz="1600" b="1" dirty="0">
                <a:solidFill>
                  <a:schemeClr val="tx2"/>
                </a:solidFill>
              </a:rPr>
              <a:t>수정·재점검</a:t>
            </a:r>
            <a:endParaRPr lang="en-US" sz="1600" dirty="0"/>
          </a:p>
        </p:txBody>
      </p:sp>
      <p:sp>
        <p:nvSpPr>
          <p:cNvPr id="16" name="arrow"/>
          <p:cNvSpPr/>
          <p:nvPr/>
        </p:nvSpPr>
        <p:spPr>
          <a:xfrm>
            <a:off x="8503920" y="2468880"/>
            <a:ext cx="365760" cy="0"/>
          </a:xfrm>
          <a:prstGeom prst="line">
            <a:avLst/>
          </a:prstGeom>
          <a:noFill/>
          <a:ln w="22225">
            <a:solidFill>
              <a:schemeClr val="accent6"/>
            </a:solidFill>
            <a:prstDash val="solid"/>
            <a:tailEnd type="triangle"/>
          </a:ln>
        </p:spPr>
      </p:sp>
      <p:sp>
        <p:nvSpPr>
          <p:cNvPr id="17" name="step"/>
          <p:cNvSpPr/>
          <p:nvPr/>
        </p:nvSpPr>
        <p:spPr>
          <a:xfrm>
            <a:off x="8915400" y="2011680"/>
            <a:ext cx="1874520" cy="914400"/>
          </a:xfrm>
          <a:prstGeom prst="roundRect">
            <a:avLst>
              <a:gd name="adj" fmla="val 8000"/>
            </a:avLst>
          </a:prstGeom>
          <a:solidFill>
            <a:schemeClr val="bg1"/>
          </a:solidFill>
          <a:ln w="15875">
            <a:solidFill>
              <a:schemeClr val="accent1"/>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8915400" y="2011680"/>
            <a:ext cx="1874520" cy="914400"/>
          </a:xfrm>
          <a:prstGeom prst="rect">
            <a:avLst/>
          </a:prstGeom>
          <a:noFill/>
          <a:ln/>
        </p:spPr>
        <p:txBody>
          <a:bodyPr wrap="square" lIns="0" tIns="0" rIns="0" bIns="0" rtlCol="0" anchor="ctr"/>
          <a:lstStyle/>
          <a:p>
            <a:pPr algn="ctr" indent="0" marL="0">
              <a:buNone/>
            </a:pPr>
            <a:r>
              <a:rPr lang="en-US" sz="1600" b="1" dirty="0">
                <a:solidFill>
                  <a:schemeClr val="tx2"/>
                </a:solidFill>
              </a:rPr>
              <a:t>검토 요청</a:t>
            </a:r>
            <a:endParaRPr lang="en-US" sz="1600" dirty="0"/>
          </a:p>
        </p:txBody>
      </p:sp>
      <p:sp>
        <p:nvSpPr>
          <p:cNvPr id="19" name="lane"/>
          <p:cNvSpPr/>
          <p:nvPr/>
        </p:nvSpPr>
        <p:spPr>
          <a:xfrm>
            <a:off x="548640" y="3977640"/>
            <a:ext cx="11064240" cy="1737360"/>
          </a:xfrm>
          <a:prstGeom prst="roundRect">
            <a:avLst>
              <a:gd name="adj" fmla="val 4211"/>
            </a:avLst>
          </a:prstGeom>
          <a:solidFill>
            <a:schemeClr val="bg2"/>
          </a:solidFill>
          <a:ln/>
        </p:spPr>
      </p:sp>
      <p:sp>
        <p:nvSpPr>
          <p:cNvPr id="20" name="lane-icon-bg"/>
          <p:cNvSpPr/>
          <p:nvPr/>
        </p:nvSpPr>
        <p:spPr>
          <a:xfrm>
            <a:off x="822960" y="4389120"/>
            <a:ext cx="640080" cy="640080"/>
          </a:xfrm>
          <a:prstGeom prst="ellipse">
            <a:avLst/>
          </a:prstGeom>
          <a:solidFill>
            <a:schemeClr val="accent5"/>
          </a:solidFill>
          <a:ln/>
        </p:spPr>
      </p:sp>
      <p:pic>
        <p:nvPicPr>
          <p:cNvPr id="21" name="lane-icon" descr="preencoded.png">    </p:cNvPr>
          <p:cNvPicPr>
            <a:picLocks noChangeAspect="1"/>
          </p:cNvPicPr>
          <p:nvPr/>
        </p:nvPicPr>
        <p:blipFill>
          <a:blip r:embed="rId2"/>
          <a:stretch>
            <a:fillRect/>
          </a:stretch>
        </p:blipFill>
        <p:spPr>
          <a:xfrm>
            <a:off x="976579" y="4542739"/>
            <a:ext cx="332842" cy="332842"/>
          </a:xfrm>
          <a:prstGeom prst="rect">
            <a:avLst/>
          </a:prstGeom>
        </p:spPr>
      </p:pic>
      <p:sp>
        <p:nvSpPr>
          <p:cNvPr id="22" name="Text 18"/>
          <p:cNvSpPr txBox="1"/>
          <p:nvPr/>
        </p:nvSpPr>
        <p:spPr>
          <a:xfrm>
            <a:off x="685800" y="5074920"/>
            <a:ext cx="914400" cy="320040"/>
          </a:xfrm>
          <a:prstGeom prst="rect">
            <a:avLst/>
          </a:prstGeom>
          <a:noFill/>
          <a:ln/>
        </p:spPr>
        <p:txBody>
          <a:bodyPr wrap="square" lIns="0" tIns="0" rIns="0" bIns="0" rtlCol="0" anchor="t"/>
          <a:lstStyle/>
          <a:p>
            <a:pPr algn="ctr" indent="0" marL="0">
              <a:buNone/>
            </a:pPr>
            <a:r>
              <a:rPr lang="en-US" sz="1500" b="1" dirty="0">
                <a:solidFill>
                  <a:schemeClr val="accent5"/>
                </a:solidFill>
              </a:rPr>
              <a:t>검토자</a:t>
            </a:r>
            <a:endParaRPr lang="en-US" sz="1500" dirty="0"/>
          </a:p>
        </p:txBody>
      </p:sp>
      <p:sp>
        <p:nvSpPr>
          <p:cNvPr id="23" name="step"/>
          <p:cNvSpPr/>
          <p:nvPr/>
        </p:nvSpPr>
        <p:spPr>
          <a:xfrm>
            <a:off x="4251960" y="4389120"/>
            <a:ext cx="1874520" cy="914400"/>
          </a:xfrm>
          <a:prstGeom prst="roundRect">
            <a:avLst>
              <a:gd name="adj" fmla="val 8000"/>
            </a:avLst>
          </a:prstGeom>
          <a:solidFill>
            <a:schemeClr val="bg1"/>
          </a:solidFill>
          <a:ln w="15875">
            <a:solidFill>
              <a:schemeClr val="accent5"/>
            </a:solidFill>
            <a:prstDash val="solid"/>
          </a:ln>
          <a:effectLst>
            <a:outerShdw sx="100000" sy="100000" kx="0" ky="0" algn="bl" rotWithShape="0" blurRad="76200" dist="25400" dir="5400000">
              <a:srgbClr val="000000">
                <a:alpha val="12000"/>
              </a:srgbClr>
            </a:outerShdw>
          </a:effectLst>
        </p:spPr>
      </p:sp>
      <p:sp>
        <p:nvSpPr>
          <p:cNvPr id="24" name="Text 20"/>
          <p:cNvSpPr txBox="1"/>
          <p:nvPr/>
        </p:nvSpPr>
        <p:spPr>
          <a:xfrm>
            <a:off x="4251960" y="4389120"/>
            <a:ext cx="1874520" cy="914400"/>
          </a:xfrm>
          <a:prstGeom prst="rect">
            <a:avLst/>
          </a:prstGeom>
          <a:noFill/>
          <a:ln/>
        </p:spPr>
        <p:txBody>
          <a:bodyPr wrap="square" lIns="0" tIns="0" rIns="0" bIns="0" rtlCol="0" anchor="ctr"/>
          <a:lstStyle/>
          <a:p>
            <a:pPr algn="ctr" indent="0" marL="0">
              <a:buNone/>
            </a:pPr>
            <a:r>
              <a:rPr lang="en-US" sz="1600" b="1" dirty="0">
                <a:solidFill>
                  <a:schemeClr val="tx2"/>
                </a:solidFill>
              </a:rPr>
              <a:t>검토함 확인</a:t>
            </a:r>
            <a:endParaRPr lang="en-US" sz="1600" dirty="0"/>
          </a:p>
        </p:txBody>
      </p:sp>
      <p:sp>
        <p:nvSpPr>
          <p:cNvPr id="25" name="arrow"/>
          <p:cNvSpPr/>
          <p:nvPr/>
        </p:nvSpPr>
        <p:spPr>
          <a:xfrm>
            <a:off x="6172200" y="4846320"/>
            <a:ext cx="365760" cy="0"/>
          </a:xfrm>
          <a:prstGeom prst="line">
            <a:avLst/>
          </a:prstGeom>
          <a:noFill/>
          <a:ln w="22225">
            <a:solidFill>
              <a:schemeClr val="accent6"/>
            </a:solidFill>
            <a:prstDash val="solid"/>
            <a:tailEnd type="triangle"/>
          </a:ln>
        </p:spPr>
      </p:sp>
      <p:sp>
        <p:nvSpPr>
          <p:cNvPr id="26" name="step"/>
          <p:cNvSpPr/>
          <p:nvPr/>
        </p:nvSpPr>
        <p:spPr>
          <a:xfrm>
            <a:off x="6583680" y="4389120"/>
            <a:ext cx="1874520" cy="914400"/>
          </a:xfrm>
          <a:prstGeom prst="roundRect">
            <a:avLst>
              <a:gd name="adj" fmla="val 8000"/>
            </a:avLst>
          </a:prstGeom>
          <a:solidFill>
            <a:schemeClr val="bg1"/>
          </a:solidFill>
          <a:ln w="15875">
            <a:solidFill>
              <a:schemeClr val="accent5"/>
            </a:solidFill>
            <a:prstDash val="solid"/>
          </a:ln>
          <a:effectLst>
            <a:outerShdw sx="100000" sy="100000" kx="0" ky="0" algn="bl" rotWithShape="0" blurRad="76200" dist="25400" dir="5400000">
              <a:srgbClr val="000000">
                <a:alpha val="12000"/>
              </a:srgbClr>
            </a:outerShdw>
          </a:effectLst>
        </p:spPr>
      </p:sp>
      <p:sp>
        <p:nvSpPr>
          <p:cNvPr id="27" name="Text 23"/>
          <p:cNvSpPr txBox="1"/>
          <p:nvPr/>
        </p:nvSpPr>
        <p:spPr>
          <a:xfrm>
            <a:off x="6583680" y="4389120"/>
            <a:ext cx="1874520" cy="914400"/>
          </a:xfrm>
          <a:prstGeom prst="rect">
            <a:avLst/>
          </a:prstGeom>
          <a:noFill/>
          <a:ln/>
        </p:spPr>
        <p:txBody>
          <a:bodyPr wrap="square" lIns="0" tIns="0" rIns="0" bIns="0" rtlCol="0" anchor="ctr"/>
          <a:lstStyle/>
          <a:p>
            <a:pPr algn="ctr" indent="0" marL="0">
              <a:buNone/>
            </a:pPr>
            <a:r>
              <a:rPr lang="en-US" sz="1600" b="1" dirty="0">
                <a:solidFill>
                  <a:schemeClr val="tx2"/>
                </a:solidFill>
              </a:rPr>
              <a:t>승인 / 반려</a:t>
            </a:r>
            <a:endParaRPr lang="en-US" sz="1600" dirty="0"/>
          </a:p>
        </p:txBody>
      </p:sp>
      <p:sp>
        <p:nvSpPr>
          <p:cNvPr id="28" name="arrow"/>
          <p:cNvSpPr/>
          <p:nvPr/>
        </p:nvSpPr>
        <p:spPr>
          <a:xfrm>
            <a:off x="8503920" y="4846320"/>
            <a:ext cx="365760" cy="0"/>
          </a:xfrm>
          <a:prstGeom prst="line">
            <a:avLst/>
          </a:prstGeom>
          <a:noFill/>
          <a:ln w="22225">
            <a:solidFill>
              <a:schemeClr val="accent6"/>
            </a:solidFill>
            <a:prstDash val="solid"/>
            <a:tailEnd type="triangle"/>
          </a:ln>
        </p:spPr>
      </p:sp>
      <p:sp>
        <p:nvSpPr>
          <p:cNvPr id="29" name="step"/>
          <p:cNvSpPr/>
          <p:nvPr/>
        </p:nvSpPr>
        <p:spPr>
          <a:xfrm>
            <a:off x="8915400" y="4389120"/>
            <a:ext cx="1874520" cy="914400"/>
          </a:xfrm>
          <a:prstGeom prst="roundRect">
            <a:avLst>
              <a:gd name="adj" fmla="val 8000"/>
            </a:avLst>
          </a:prstGeom>
          <a:solidFill>
            <a:schemeClr val="bg1"/>
          </a:solidFill>
          <a:ln w="15875">
            <a:solidFill>
              <a:schemeClr val="accent5"/>
            </a:solidFill>
            <a:prstDash val="solid"/>
          </a:ln>
          <a:effectLst>
            <a:outerShdw sx="100000" sy="100000" kx="0" ky="0" algn="bl" rotWithShape="0" blurRad="76200" dist="25400" dir="5400000">
              <a:srgbClr val="000000">
                <a:alpha val="12000"/>
              </a:srgbClr>
            </a:outerShdw>
          </a:effectLst>
        </p:spPr>
      </p:sp>
      <p:sp>
        <p:nvSpPr>
          <p:cNvPr id="30" name="Text 26"/>
          <p:cNvSpPr txBox="1"/>
          <p:nvPr/>
        </p:nvSpPr>
        <p:spPr>
          <a:xfrm>
            <a:off x="8915400" y="4389120"/>
            <a:ext cx="1874520" cy="914400"/>
          </a:xfrm>
          <a:prstGeom prst="rect">
            <a:avLst/>
          </a:prstGeom>
          <a:noFill/>
          <a:ln/>
        </p:spPr>
        <p:txBody>
          <a:bodyPr wrap="square" lIns="0" tIns="0" rIns="0" bIns="0" rtlCol="0" anchor="ctr"/>
          <a:lstStyle/>
          <a:p>
            <a:pPr algn="ctr" indent="0" marL="0">
              <a:buNone/>
            </a:pPr>
            <a:r>
              <a:rPr lang="en-US" sz="1600" b="1" dirty="0">
                <a:solidFill>
                  <a:schemeClr val="tx2"/>
                </a:solidFill>
              </a:rPr>
              <a:t>문서목록 등록</a:t>
            </a:r>
            <a:endParaRPr lang="en-US" sz="1600" dirty="0"/>
          </a:p>
        </p:txBody>
      </p:sp>
      <p:sp>
        <p:nvSpPr>
          <p:cNvPr id="31" name="arrow-request"/>
          <p:cNvSpPr/>
          <p:nvPr/>
        </p:nvSpPr>
        <p:spPr>
          <a:xfrm>
            <a:off x="9852660" y="2971800"/>
            <a:ext cx="0" cy="777240"/>
          </a:xfrm>
          <a:prstGeom prst="line">
            <a:avLst/>
          </a:prstGeom>
          <a:noFill/>
          <a:ln w="22225">
            <a:solidFill>
              <a:schemeClr val="accent1"/>
            </a:solidFill>
            <a:prstDash val="solid"/>
            <a:tailEnd type="triangle"/>
          </a:ln>
        </p:spPr>
      </p:sp>
      <p:sp>
        <p:nvSpPr>
          <p:cNvPr id="32" name="arrow-request-h"/>
          <p:cNvSpPr/>
          <p:nvPr/>
        </p:nvSpPr>
        <p:spPr>
          <a:xfrm>
            <a:off x="5189220" y="3749040"/>
            <a:ext cx="4663440" cy="0"/>
          </a:xfrm>
          <a:prstGeom prst="line">
            <a:avLst/>
          </a:prstGeom>
          <a:noFill/>
          <a:ln w="22225">
            <a:solidFill>
              <a:schemeClr val="accent1"/>
            </a:solidFill>
            <a:prstDash val="solid"/>
          </a:ln>
        </p:spPr>
      </p:sp>
      <p:sp>
        <p:nvSpPr>
          <p:cNvPr id="33" name="arrow-request-down"/>
          <p:cNvSpPr/>
          <p:nvPr/>
        </p:nvSpPr>
        <p:spPr>
          <a:xfrm flipH="1">
            <a:off x="5189220" y="3749040"/>
            <a:ext cx="91" cy="594360"/>
          </a:xfrm>
          <a:prstGeom prst="line">
            <a:avLst/>
          </a:prstGeom>
          <a:noFill/>
          <a:ln w="22225">
            <a:solidFill>
              <a:schemeClr val="accent1"/>
            </a:solidFill>
            <a:prstDash val="solid"/>
            <a:tailEnd type="triangle"/>
          </a:ln>
        </p:spPr>
      </p:sp>
      <p:sp>
        <p:nvSpPr>
          <p:cNvPr id="34" name="Text 30"/>
          <p:cNvSpPr txBox="1"/>
          <p:nvPr/>
        </p:nvSpPr>
        <p:spPr>
          <a:xfrm>
            <a:off x="5326380" y="3493008"/>
            <a:ext cx="1280160" cy="237744"/>
          </a:xfrm>
          <a:prstGeom prst="rect">
            <a:avLst/>
          </a:prstGeom>
          <a:noFill/>
          <a:ln/>
        </p:spPr>
        <p:txBody>
          <a:bodyPr wrap="square" lIns="0" tIns="0" rIns="0" bIns="0" rtlCol="0" anchor="t"/>
          <a:lstStyle/>
          <a:p>
            <a:pPr indent="0" marL="0">
              <a:buNone/>
            </a:pPr>
            <a:r>
              <a:rPr lang="en-US" sz="1100" b="1" dirty="0">
                <a:solidFill>
                  <a:schemeClr val="accent1"/>
                </a:solidFill>
              </a:rPr>
              <a:t>요청 알림</a:t>
            </a:r>
            <a:endParaRPr lang="en-US" sz="1100" dirty="0"/>
          </a:p>
        </p:txBody>
      </p:sp>
      <p:sp>
        <p:nvSpPr>
          <p:cNvPr id="35" name="arrow-reject"/>
          <p:cNvSpPr/>
          <p:nvPr/>
        </p:nvSpPr>
        <p:spPr>
          <a:xfrm flipV="1">
            <a:off x="7840980" y="2971800"/>
            <a:ext cx="0" cy="1371600"/>
          </a:xfrm>
          <a:prstGeom prst="line">
            <a:avLst/>
          </a:prstGeom>
          <a:noFill/>
          <a:ln w="22225">
            <a:solidFill>
              <a:schemeClr val="accent2"/>
            </a:solidFill>
            <a:prstDash val="solid"/>
            <a:tailEnd type="triangle"/>
          </a:ln>
        </p:spPr>
      </p:sp>
      <p:sp>
        <p:nvSpPr>
          <p:cNvPr id="36" name="Text 32"/>
          <p:cNvSpPr txBox="1"/>
          <p:nvPr/>
        </p:nvSpPr>
        <p:spPr>
          <a:xfrm>
            <a:off x="7950708" y="3200400"/>
            <a:ext cx="1463040" cy="237744"/>
          </a:xfrm>
          <a:prstGeom prst="rect">
            <a:avLst/>
          </a:prstGeom>
          <a:noFill/>
          <a:ln/>
        </p:spPr>
        <p:txBody>
          <a:bodyPr wrap="square" lIns="0" tIns="0" rIns="0" bIns="0" rtlCol="0" anchor="t"/>
          <a:lstStyle/>
          <a:p>
            <a:pPr indent="0" marL="0">
              <a:buNone/>
            </a:pPr>
            <a:r>
              <a:rPr lang="en-US" sz="1100" b="1" dirty="0">
                <a:solidFill>
                  <a:schemeClr val="accent2"/>
                </a:solidFill>
              </a:rPr>
              <a:t>반려 사유 전달</a:t>
            </a:r>
            <a:endParaRPr lang="en-US" sz="1100" dirty="0"/>
          </a:p>
        </p:txBody>
      </p:sp>
      <p:sp>
        <p:nvSpPr>
          <p:cNvPr id="37" name="Text 33"/>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300" dirty="0">
                <a:solidFill>
                  <a:schemeClr val="accent6"/>
                </a:solidFill>
              </a:rPr>
              <a:t>로그인 없이 상단 역할 전환(작성자 / 검토자)으로 두 화면 모두 시연. 상태는 브라우저에 저장되어 새로고침 후에도 유지</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03  화면 ① 입력 → 결과</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보고서 샘플 입력 → 필수 3건 · 권고 3건</a:t>
            </a:r>
            <a:endParaRPr lang="en-US" sz="3000" dirty="0"/>
          </a:p>
        </p:txBody>
      </p:sp>
      <p:sp>
        <p:nvSpPr>
          <p:cNvPr id="4" name="shot-input-frame"/>
          <p:cNvSpPr/>
          <p:nvPr/>
        </p:nvSpPr>
        <p:spPr>
          <a:xfrm>
            <a:off x="530352" y="1581912"/>
            <a:ext cx="3648456" cy="3087992"/>
          </a:xfrm>
          <a:prstGeom prst="rect">
            <a:avLst/>
          </a:prstGeom>
          <a:solidFill>
            <a:srgbClr val="D7DEE8"/>
          </a:solidFill>
          <a:ln/>
          <a:effectLst>
            <a:outerShdw sx="100000" sy="100000" kx="0" ky="0" algn="bl" rotWithShape="0" blurRad="76200" dist="25400" dir="5400000">
              <a:srgbClr val="000000">
                <a:alpha val="12000"/>
              </a:srgbClr>
            </a:outerShdw>
          </a:effectLst>
        </p:spPr>
      </p:sp>
      <p:pic>
        <p:nvPicPr>
          <p:cNvPr id="5" name="shot-input" descr="shot-input">    </p:cNvPr>
          <p:cNvPicPr>
            <a:picLocks noChangeAspect="1"/>
          </p:cNvPicPr>
          <p:nvPr/>
        </p:nvPicPr>
        <p:blipFill>
          <a:blip r:embed="rId1"/>
          <a:stretch>
            <a:fillRect/>
          </a:stretch>
        </p:blipFill>
        <p:spPr>
          <a:xfrm>
            <a:off x="548640" y="1600200"/>
            <a:ext cx="3611880" cy="3051416"/>
          </a:xfrm>
          <a:prstGeom prst="rect">
            <a:avLst/>
          </a:prstGeom>
        </p:spPr>
      </p:pic>
      <p:sp>
        <p:nvSpPr>
          <p:cNvPr id="6" name="shot-result-frame"/>
          <p:cNvSpPr/>
          <p:nvPr/>
        </p:nvSpPr>
        <p:spPr>
          <a:xfrm>
            <a:off x="4507992" y="1581912"/>
            <a:ext cx="7123176" cy="3824242"/>
          </a:xfrm>
          <a:prstGeom prst="rect">
            <a:avLst/>
          </a:prstGeom>
          <a:solidFill>
            <a:srgbClr val="D7DEE8"/>
          </a:solidFill>
          <a:ln/>
          <a:effectLst>
            <a:outerShdw sx="100000" sy="100000" kx="0" ky="0" algn="bl" rotWithShape="0" blurRad="76200" dist="25400" dir="5400000">
              <a:srgbClr val="000000">
                <a:alpha val="12000"/>
              </a:srgbClr>
            </a:outerShdw>
          </a:effectLst>
        </p:spPr>
      </p:sp>
      <p:pic>
        <p:nvPicPr>
          <p:cNvPr id="7" name="shot-result" descr="shot-result">    </p:cNvPr>
          <p:cNvPicPr>
            <a:picLocks noChangeAspect="1"/>
          </p:cNvPicPr>
          <p:nvPr/>
        </p:nvPicPr>
        <p:blipFill>
          <a:blip r:embed="rId2"/>
          <a:stretch>
            <a:fillRect/>
          </a:stretch>
        </p:blipFill>
        <p:spPr>
          <a:xfrm>
            <a:off x="4526280" y="1600200"/>
            <a:ext cx="7086600" cy="3787666"/>
          </a:xfrm>
          <a:prstGeom prst="rect">
            <a:avLst/>
          </a:prstGeom>
        </p:spPr>
      </p:pic>
      <p:sp>
        <p:nvSpPr>
          <p:cNvPr id="8" name="io-chip"/>
          <p:cNvSpPr/>
          <p:nvPr/>
        </p:nvSpPr>
        <p:spPr>
          <a:xfrm>
            <a:off x="548640" y="5662186"/>
            <a:ext cx="566928" cy="292608"/>
          </a:xfrm>
          <a:prstGeom prst="roundRect">
            <a:avLst>
              <a:gd name="adj" fmla="val 18750"/>
            </a:avLst>
          </a:prstGeom>
          <a:solidFill>
            <a:schemeClr val="accent1"/>
          </a:solidFill>
          <a:ln/>
        </p:spPr>
      </p:sp>
      <p:sp>
        <p:nvSpPr>
          <p:cNvPr id="9" name="Text 5"/>
          <p:cNvSpPr txBox="1"/>
          <p:nvPr/>
        </p:nvSpPr>
        <p:spPr>
          <a:xfrm>
            <a:off x="548640" y="5662186"/>
            <a:ext cx="566928" cy="292608"/>
          </a:xfrm>
          <a:prstGeom prst="rect">
            <a:avLst/>
          </a:prstGeom>
          <a:noFill/>
          <a:ln/>
        </p:spPr>
        <p:txBody>
          <a:bodyPr wrap="square" lIns="0" tIns="0" rIns="0" bIns="0" rtlCol="0" anchor="ctr"/>
          <a:lstStyle/>
          <a:p>
            <a:pPr algn="ctr" indent="0" marL="0">
              <a:buNone/>
            </a:pPr>
            <a:r>
              <a:rPr lang="en-US" sz="1100" b="1" dirty="0">
                <a:solidFill>
                  <a:schemeClr val="bg1"/>
                </a:solidFill>
              </a:rPr>
              <a:t>입력</a:t>
            </a:r>
            <a:endParaRPr lang="en-US" sz="1100" dirty="0"/>
          </a:p>
        </p:txBody>
      </p:sp>
      <p:sp>
        <p:nvSpPr>
          <p:cNvPr id="10" name="Text 6"/>
          <p:cNvSpPr txBox="1"/>
          <p:nvPr/>
        </p:nvSpPr>
        <p:spPr>
          <a:xfrm>
            <a:off x="1234440" y="5643898"/>
            <a:ext cx="3063240" cy="566928"/>
          </a:xfrm>
          <a:prstGeom prst="rect">
            <a:avLst/>
          </a:prstGeom>
          <a:noFill/>
          <a:ln/>
        </p:spPr>
        <p:txBody>
          <a:bodyPr wrap="square" lIns="0" tIns="0" rIns="0" bIns="0" rtlCol="0" anchor="t"/>
          <a:lstStyle/>
          <a:p>
            <a:pPr indent="0" marL="0">
              <a:buNone/>
            </a:pPr>
            <a:r>
              <a:rPr lang="en-US" sz="1300" dirty="0">
                <a:solidFill>
                  <a:schemeClr val="tx1"/>
                </a:solidFill>
              </a:rPr>
              <a:t>시험결과보고서 샘플 (파일명 날짜 2026.10.05, 본문 작성일 2026-10-06)</a:t>
            </a:r>
            <a:endParaRPr lang="en-US" sz="1300" dirty="0"/>
          </a:p>
        </p:txBody>
      </p:sp>
      <p:sp>
        <p:nvSpPr>
          <p:cNvPr id="11" name="io-chip"/>
          <p:cNvSpPr/>
          <p:nvPr/>
        </p:nvSpPr>
        <p:spPr>
          <a:xfrm>
            <a:off x="4526280" y="5662186"/>
            <a:ext cx="566928" cy="292608"/>
          </a:xfrm>
          <a:prstGeom prst="roundRect">
            <a:avLst>
              <a:gd name="adj" fmla="val 18750"/>
            </a:avLst>
          </a:prstGeom>
          <a:solidFill>
            <a:schemeClr val="accent5"/>
          </a:solidFill>
          <a:ln/>
        </p:spPr>
      </p:sp>
      <p:sp>
        <p:nvSpPr>
          <p:cNvPr id="12" name="Text 8"/>
          <p:cNvSpPr txBox="1"/>
          <p:nvPr/>
        </p:nvSpPr>
        <p:spPr>
          <a:xfrm>
            <a:off x="4526280" y="5662186"/>
            <a:ext cx="566928" cy="292608"/>
          </a:xfrm>
          <a:prstGeom prst="rect">
            <a:avLst/>
          </a:prstGeom>
          <a:noFill/>
          <a:ln/>
        </p:spPr>
        <p:txBody>
          <a:bodyPr wrap="square" lIns="0" tIns="0" rIns="0" bIns="0" rtlCol="0" anchor="ctr"/>
          <a:lstStyle/>
          <a:p>
            <a:pPr algn="ctr" indent="0" marL="0">
              <a:buNone/>
            </a:pPr>
            <a:r>
              <a:rPr lang="en-US" sz="1100" b="1" dirty="0">
                <a:solidFill>
                  <a:schemeClr val="bg1"/>
                </a:solidFill>
              </a:rPr>
              <a:t>출력</a:t>
            </a:r>
            <a:endParaRPr lang="en-US" sz="1100" dirty="0"/>
          </a:p>
        </p:txBody>
      </p:sp>
      <p:sp>
        <p:nvSpPr>
          <p:cNvPr id="13" name="Text 9"/>
          <p:cNvSpPr txBox="1"/>
          <p:nvPr/>
        </p:nvSpPr>
        <p:spPr>
          <a:xfrm>
            <a:off x="5212080" y="5643898"/>
            <a:ext cx="6400800" cy="566928"/>
          </a:xfrm>
          <a:prstGeom prst="rect">
            <a:avLst/>
          </a:prstGeom>
          <a:noFill/>
          <a:ln/>
        </p:spPr>
        <p:txBody>
          <a:bodyPr wrap="square" lIns="0" tIns="0" rIns="0" bIns="0" rtlCol="0" anchor="t"/>
          <a:lstStyle/>
          <a:p>
            <a:pPr indent="0" marL="0">
              <a:buNone/>
            </a:pPr>
            <a:r>
              <a:rPr lang="en-US" sz="1300" b="1" dirty="0">
                <a:solidFill>
                  <a:schemeClr val="accent2"/>
                </a:solidFill>
              </a:rPr>
              <a:t>보완 필요 </a:t>
            </a:r>
            <a:pPr indent="0" marL="0">
              <a:buNone/>
            </a:pPr>
            <a:r>
              <a:rPr lang="en-US" sz="1300" dirty="0">
                <a:solidFill>
                  <a:schemeClr val="tx1"/>
                </a:solidFill>
              </a:rPr>
              <a:t>필수 3: C-01 파일명 형식 · C-02 날짜 불일치 · C-05 문서 이력 없음 / 권고 3: C-03 서술형 · C-04 두 내용 연결 · C-06 이유 불충분</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03  화면 ② 수정 → 재점검</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"적용" 2번 → 필수 0건, 검토 요청 가능</a:t>
            </a:r>
            <a:endParaRPr lang="en-US" sz="3000" dirty="0"/>
          </a:p>
        </p:txBody>
      </p:sp>
      <p:sp>
        <p:nvSpPr>
          <p:cNvPr id="4" name="shot-fixed-frame"/>
          <p:cNvSpPr/>
          <p:nvPr/>
        </p:nvSpPr>
        <p:spPr>
          <a:xfrm>
            <a:off x="530352" y="1581912"/>
            <a:ext cx="6071616" cy="2598867"/>
          </a:xfrm>
          <a:prstGeom prst="rect">
            <a:avLst/>
          </a:prstGeom>
          <a:solidFill>
            <a:srgbClr val="D7DEE8"/>
          </a:solidFill>
          <a:ln/>
          <a:effectLst>
            <a:outerShdw sx="100000" sy="100000" kx="0" ky="0" algn="bl" rotWithShape="0" blurRad="76200" dist="25400" dir="5400000">
              <a:srgbClr val="000000">
                <a:alpha val="12000"/>
              </a:srgbClr>
            </a:outerShdw>
          </a:effectLst>
        </p:spPr>
      </p:sp>
      <p:pic>
        <p:nvPicPr>
          <p:cNvPr id="5" name="shot-fixed" descr="shot-fixed">    </p:cNvPr>
          <p:cNvPicPr>
            <a:picLocks noChangeAspect="1"/>
          </p:cNvPicPr>
          <p:nvPr/>
        </p:nvPicPr>
        <p:blipFill>
          <a:blip r:embed="rId1"/>
          <a:stretch>
            <a:fillRect/>
          </a:stretch>
        </p:blipFill>
        <p:spPr>
          <a:xfrm>
            <a:off x="548640" y="1600200"/>
            <a:ext cx="6035040" cy="2562291"/>
          </a:xfrm>
          <a:prstGeom prst="rect">
            <a:avLst/>
          </a:prstGeom>
        </p:spPr>
      </p:pic>
      <p:sp>
        <p:nvSpPr>
          <p:cNvPr id="6" name="shot-preview-frame"/>
          <p:cNvSpPr/>
          <p:nvPr/>
        </p:nvSpPr>
        <p:spPr>
          <a:xfrm>
            <a:off x="6885432" y="1581912"/>
            <a:ext cx="4745736" cy="2675329"/>
          </a:xfrm>
          <a:prstGeom prst="rect">
            <a:avLst/>
          </a:prstGeom>
          <a:solidFill>
            <a:srgbClr val="D7DEE8"/>
          </a:solidFill>
          <a:ln/>
          <a:effectLst>
            <a:outerShdw sx="100000" sy="100000" kx="0" ky="0" algn="bl" rotWithShape="0" blurRad="76200" dist="25400" dir="5400000">
              <a:srgbClr val="000000">
                <a:alpha val="12000"/>
              </a:srgbClr>
            </a:outerShdw>
          </a:effectLst>
        </p:spPr>
      </p:sp>
      <p:pic>
        <p:nvPicPr>
          <p:cNvPr id="7" name="shot-preview" descr="shot-preview">    </p:cNvPr>
          <p:cNvPicPr>
            <a:picLocks noChangeAspect="1"/>
          </p:cNvPicPr>
          <p:nvPr/>
        </p:nvPicPr>
        <p:blipFill>
          <a:blip r:embed="rId2"/>
          <a:stretch>
            <a:fillRect/>
          </a:stretch>
        </p:blipFill>
        <p:spPr>
          <a:xfrm>
            <a:off x="6903720" y="1600200"/>
            <a:ext cx="4709160" cy="2638753"/>
          </a:xfrm>
          <a:prstGeom prst="rect">
            <a:avLst/>
          </a:prstGeom>
        </p:spPr>
      </p:pic>
      <p:sp>
        <p:nvSpPr>
          <p:cNvPr id="8" name="stat-card"/>
          <p:cNvSpPr/>
          <p:nvPr/>
        </p:nvSpPr>
        <p:spPr>
          <a:xfrm>
            <a:off x="548640" y="4482531"/>
            <a:ext cx="6035040" cy="1143000"/>
          </a:xfrm>
          <a:prstGeom prst="roundRect">
            <a:avLst>
              <a:gd name="adj" fmla="val 6400"/>
            </a:avLst>
          </a:prstGeom>
          <a:solidFill>
            <a:schemeClr val="bg2"/>
          </a:solidFill>
          <a:ln/>
        </p:spPr>
      </p:sp>
      <p:sp>
        <p:nvSpPr>
          <p:cNvPr id="9" name="Text 5"/>
          <p:cNvSpPr txBox="1"/>
          <p:nvPr/>
        </p:nvSpPr>
        <p:spPr>
          <a:xfrm>
            <a:off x="777240" y="4573971"/>
            <a:ext cx="731520" cy="731520"/>
          </a:xfrm>
          <a:prstGeom prst="rect">
            <a:avLst/>
          </a:prstGeom>
          <a:noFill/>
          <a:ln/>
        </p:spPr>
        <p:txBody>
          <a:bodyPr wrap="square" lIns="0" tIns="0" rIns="0" bIns="0" rtlCol="0" anchor="t"/>
          <a:lstStyle/>
          <a:p>
            <a:pPr algn="ctr" indent="0" marL="0">
              <a:buNone/>
            </a:pPr>
            <a:r>
              <a:rPr lang="en-US" sz="4800" b="1" dirty="0">
                <a:solidFill>
                  <a:schemeClr val="accent2"/>
                </a:solidFill>
              </a:rPr>
              <a:t>3</a:t>
            </a:r>
            <a:endParaRPr lang="en-US" sz="4800" dirty="0"/>
          </a:p>
        </p:txBody>
      </p:sp>
      <p:sp>
        <p:nvSpPr>
          <p:cNvPr id="10" name="Text 6"/>
          <p:cNvSpPr txBox="1"/>
          <p:nvPr/>
        </p:nvSpPr>
        <p:spPr>
          <a:xfrm>
            <a:off x="1508760" y="4665411"/>
            <a:ext cx="548640" cy="548640"/>
          </a:xfrm>
          <a:prstGeom prst="rect">
            <a:avLst/>
          </a:prstGeom>
          <a:noFill/>
          <a:ln/>
        </p:spPr>
        <p:txBody>
          <a:bodyPr wrap="square" lIns="0" tIns="0" rIns="0" bIns="0" rtlCol="0" anchor="t"/>
          <a:lstStyle/>
          <a:p>
            <a:pPr algn="ctr" indent="0" marL="0">
              <a:buNone/>
            </a:pPr>
            <a:r>
              <a:rPr lang="en-US" sz="2800" dirty="0">
                <a:solidFill>
                  <a:schemeClr val="accent6"/>
                </a:solidFill>
              </a:rPr>
              <a:t>→</a:t>
            </a:r>
            <a:endParaRPr lang="en-US" sz="2800" dirty="0"/>
          </a:p>
        </p:txBody>
      </p:sp>
      <p:sp>
        <p:nvSpPr>
          <p:cNvPr id="11" name="Text 7"/>
          <p:cNvSpPr txBox="1"/>
          <p:nvPr/>
        </p:nvSpPr>
        <p:spPr>
          <a:xfrm>
            <a:off x="2057400" y="4573971"/>
            <a:ext cx="731520" cy="731520"/>
          </a:xfrm>
          <a:prstGeom prst="rect">
            <a:avLst/>
          </a:prstGeom>
          <a:noFill/>
          <a:ln/>
        </p:spPr>
        <p:txBody>
          <a:bodyPr wrap="square" lIns="0" tIns="0" rIns="0" bIns="0" rtlCol="0" anchor="t"/>
          <a:lstStyle/>
          <a:p>
            <a:pPr algn="ctr" indent="0" marL="0">
              <a:buNone/>
            </a:pPr>
            <a:r>
              <a:rPr lang="en-US" sz="4800" b="1" dirty="0">
                <a:solidFill>
                  <a:schemeClr val="accent5"/>
                </a:solidFill>
              </a:rPr>
              <a:t>0</a:t>
            </a:r>
            <a:endParaRPr lang="en-US" sz="4800" dirty="0"/>
          </a:p>
        </p:txBody>
      </p:sp>
      <p:sp>
        <p:nvSpPr>
          <p:cNvPr id="12" name="Text 8"/>
          <p:cNvSpPr txBox="1"/>
          <p:nvPr/>
        </p:nvSpPr>
        <p:spPr>
          <a:xfrm>
            <a:off x="777240" y="5287203"/>
            <a:ext cx="2011680" cy="274320"/>
          </a:xfrm>
          <a:prstGeom prst="rect">
            <a:avLst/>
          </a:prstGeom>
          <a:noFill/>
          <a:ln/>
        </p:spPr>
        <p:txBody>
          <a:bodyPr wrap="square" lIns="0" tIns="0" rIns="0" bIns="0" rtlCol="0" anchor="t"/>
          <a:lstStyle/>
          <a:p>
            <a:pPr algn="ctr" indent="0" marL="0">
              <a:buNone/>
            </a:pPr>
            <a:r>
              <a:rPr lang="en-US" sz="1200" dirty="0">
                <a:solidFill>
                  <a:schemeClr val="accent6"/>
                </a:solidFill>
              </a:rPr>
              <a:t>필수 위반</a:t>
            </a:r>
            <a:endParaRPr lang="en-US" sz="1200" dirty="0"/>
          </a:p>
        </p:txBody>
      </p:sp>
      <p:sp>
        <p:nvSpPr>
          <p:cNvPr id="13" name="Text 9"/>
          <p:cNvSpPr txBox="1"/>
          <p:nvPr/>
        </p:nvSpPr>
        <p:spPr>
          <a:xfrm>
            <a:off x="3063240" y="4683699"/>
            <a:ext cx="3291840" cy="777240"/>
          </a:xfrm>
          <a:prstGeom prst="rect">
            <a:avLst/>
          </a:prstGeom>
          <a:noFill/>
          <a:ln/>
        </p:spPr>
        <p:txBody>
          <a:bodyPr wrap="square" lIns="0" tIns="0" rIns="0" bIns="0" rtlCol="0" anchor="t"/>
          <a:lstStyle/>
          <a:p>
            <a:pPr indent="0" marL="0">
              <a:buNone/>
            </a:pPr>
            <a:r>
              <a:rPr lang="en-US" sz="1300" dirty="0">
                <a:solidFill>
                  <a:schemeClr val="tx1"/>
                </a:solidFill>
              </a:rPr>
              <a:t>파일명만 고쳐도 C-01·C-02 동시 해소. 문서 이력 절은 템플릿 자동 추가</a:t>
            </a:r>
            <a:endParaRPr lang="en-US" sz="1300" dirty="0"/>
          </a:p>
        </p:txBody>
      </p:sp>
      <p:sp>
        <p:nvSpPr>
          <p:cNvPr id="14" name="io-chip"/>
          <p:cNvSpPr/>
          <p:nvPr/>
        </p:nvSpPr>
        <p:spPr>
          <a:xfrm>
            <a:off x="548640" y="5899851"/>
            <a:ext cx="566928" cy="292608"/>
          </a:xfrm>
          <a:prstGeom prst="roundRect">
            <a:avLst>
              <a:gd name="adj" fmla="val 18750"/>
            </a:avLst>
          </a:prstGeom>
          <a:solidFill>
            <a:schemeClr val="accent1"/>
          </a:solidFill>
          <a:ln/>
        </p:spPr>
      </p:sp>
      <p:sp>
        <p:nvSpPr>
          <p:cNvPr id="15" name="Text 11"/>
          <p:cNvSpPr txBox="1"/>
          <p:nvPr/>
        </p:nvSpPr>
        <p:spPr>
          <a:xfrm>
            <a:off x="548640" y="5899851"/>
            <a:ext cx="566928" cy="292608"/>
          </a:xfrm>
          <a:prstGeom prst="rect">
            <a:avLst/>
          </a:prstGeom>
          <a:noFill/>
          <a:ln/>
        </p:spPr>
        <p:txBody>
          <a:bodyPr wrap="square" lIns="0" tIns="0" rIns="0" bIns="0" rtlCol="0" anchor="ctr"/>
          <a:lstStyle/>
          <a:p>
            <a:pPr algn="ctr" indent="0" marL="0">
              <a:buNone/>
            </a:pPr>
            <a:r>
              <a:rPr lang="en-US" sz="1100" b="1" dirty="0">
                <a:solidFill>
                  <a:schemeClr val="bg1"/>
                </a:solidFill>
              </a:rPr>
              <a:t>입력</a:t>
            </a:r>
            <a:endParaRPr lang="en-US" sz="1100" dirty="0"/>
          </a:p>
        </p:txBody>
      </p:sp>
      <p:sp>
        <p:nvSpPr>
          <p:cNvPr id="16" name="Text 12"/>
          <p:cNvSpPr txBox="1"/>
          <p:nvPr/>
        </p:nvSpPr>
        <p:spPr>
          <a:xfrm>
            <a:off x="1234440" y="5881563"/>
            <a:ext cx="5349240" cy="566928"/>
          </a:xfrm>
          <a:prstGeom prst="rect">
            <a:avLst/>
          </a:prstGeom>
          <a:noFill/>
          <a:ln/>
        </p:spPr>
        <p:txBody>
          <a:bodyPr wrap="square" lIns="0" tIns="0" rIns="0" bIns="0" rtlCol="0" anchor="t"/>
          <a:lstStyle/>
          <a:p>
            <a:pPr indent="0" marL="0">
              <a:buNone/>
            </a:pPr>
            <a:r>
              <a:rPr lang="en-US" sz="1300" dirty="0">
                <a:solidFill>
                  <a:schemeClr val="tx1"/>
                </a:solidFill>
              </a:rPr>
              <a:t>C-01·C-05 "적용", C-03·C-04 수락, C-06 거부(이유 유지)</a:t>
            </a:r>
            <a:endParaRPr lang="en-US" sz="1300" dirty="0"/>
          </a:p>
        </p:txBody>
      </p:sp>
      <p:sp>
        <p:nvSpPr>
          <p:cNvPr id="17" name="io-chip"/>
          <p:cNvSpPr/>
          <p:nvPr/>
        </p:nvSpPr>
        <p:spPr>
          <a:xfrm>
            <a:off x="6903720" y="4558993"/>
            <a:ext cx="566928" cy="292608"/>
          </a:xfrm>
          <a:prstGeom prst="roundRect">
            <a:avLst>
              <a:gd name="adj" fmla="val 18750"/>
            </a:avLst>
          </a:prstGeom>
          <a:solidFill>
            <a:schemeClr val="accent5"/>
          </a:solidFill>
          <a:ln/>
        </p:spPr>
      </p:sp>
      <p:sp>
        <p:nvSpPr>
          <p:cNvPr id="18" name="Text 14"/>
          <p:cNvSpPr txBox="1"/>
          <p:nvPr/>
        </p:nvSpPr>
        <p:spPr>
          <a:xfrm>
            <a:off x="6903720" y="4558993"/>
            <a:ext cx="566928" cy="292608"/>
          </a:xfrm>
          <a:prstGeom prst="rect">
            <a:avLst/>
          </a:prstGeom>
          <a:noFill/>
          <a:ln/>
        </p:spPr>
        <p:txBody>
          <a:bodyPr wrap="square" lIns="0" tIns="0" rIns="0" bIns="0" rtlCol="0" anchor="ctr"/>
          <a:lstStyle/>
          <a:p>
            <a:pPr algn="ctr" indent="0" marL="0">
              <a:buNone/>
            </a:pPr>
            <a:r>
              <a:rPr lang="en-US" sz="1100" b="1" dirty="0">
                <a:solidFill>
                  <a:schemeClr val="bg1"/>
                </a:solidFill>
              </a:rPr>
              <a:t>출력</a:t>
            </a:r>
            <a:endParaRPr lang="en-US" sz="1100" dirty="0"/>
          </a:p>
        </p:txBody>
      </p:sp>
      <p:sp>
        <p:nvSpPr>
          <p:cNvPr id="19" name="Text 15"/>
          <p:cNvSpPr txBox="1"/>
          <p:nvPr/>
        </p:nvSpPr>
        <p:spPr>
          <a:xfrm>
            <a:off x="7589520" y="4540705"/>
            <a:ext cx="4023360" cy="566928"/>
          </a:xfrm>
          <a:prstGeom prst="rect">
            <a:avLst/>
          </a:prstGeom>
          <a:noFill/>
          <a:ln/>
        </p:spPr>
        <p:txBody>
          <a:bodyPr wrap="square" lIns="0" tIns="0" rIns="0" bIns="0" rtlCol="0" anchor="t"/>
          <a:lstStyle/>
          <a:p>
            <a:pPr indent="0" marL="0">
              <a:buNone/>
            </a:pPr>
            <a:r>
              <a:rPr lang="en-US" sz="1300" dirty="0">
                <a:solidFill>
                  <a:schemeClr val="tx1"/>
                </a:solidFill>
              </a:rPr>
              <a:t>수정본 변경 7줄 — 파일명 날짜 교체, 문장 개조식·분리, 문서 이력 추가</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03  화면 ③ 검토 → 등록</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검토 요청 → 승인 → 문서목록 자동 등록</a:t>
            </a:r>
            <a:endParaRPr lang="en-US" sz="3000" dirty="0"/>
          </a:p>
        </p:txBody>
      </p:sp>
      <p:sp>
        <p:nvSpPr>
          <p:cNvPr id="4" name="shot-inbox-frame"/>
          <p:cNvSpPr/>
          <p:nvPr/>
        </p:nvSpPr>
        <p:spPr>
          <a:xfrm>
            <a:off x="530352" y="1581912"/>
            <a:ext cx="5614416" cy="3739108"/>
          </a:xfrm>
          <a:prstGeom prst="rect">
            <a:avLst/>
          </a:prstGeom>
          <a:solidFill>
            <a:srgbClr val="D7DEE8"/>
          </a:solidFill>
          <a:ln/>
          <a:effectLst>
            <a:outerShdw sx="100000" sy="100000" kx="0" ky="0" algn="bl" rotWithShape="0" blurRad="76200" dist="25400" dir="5400000">
              <a:srgbClr val="000000">
                <a:alpha val="12000"/>
              </a:srgbClr>
            </a:outerShdw>
          </a:effectLst>
        </p:spPr>
      </p:sp>
      <p:pic>
        <p:nvPicPr>
          <p:cNvPr id="5" name="shot-inbox" descr="shot-inbox">    </p:cNvPr>
          <p:cNvPicPr>
            <a:picLocks noChangeAspect="1"/>
          </p:cNvPicPr>
          <p:nvPr/>
        </p:nvPicPr>
        <p:blipFill>
          <a:blip r:embed="rId1"/>
          <a:stretch>
            <a:fillRect/>
          </a:stretch>
        </p:blipFill>
        <p:spPr>
          <a:xfrm>
            <a:off x="548640" y="1600200"/>
            <a:ext cx="5577840" cy="3702532"/>
          </a:xfrm>
          <a:prstGeom prst="rect">
            <a:avLst/>
          </a:prstGeom>
        </p:spPr>
      </p:pic>
      <p:sp>
        <p:nvSpPr>
          <p:cNvPr id="6" name="shot-docs-frame"/>
          <p:cNvSpPr/>
          <p:nvPr/>
        </p:nvSpPr>
        <p:spPr>
          <a:xfrm>
            <a:off x="6382512" y="1581912"/>
            <a:ext cx="5248656" cy="1833845"/>
          </a:xfrm>
          <a:prstGeom prst="rect">
            <a:avLst/>
          </a:prstGeom>
          <a:solidFill>
            <a:srgbClr val="D7DEE8"/>
          </a:solidFill>
          <a:ln/>
          <a:effectLst>
            <a:outerShdw sx="100000" sy="100000" kx="0" ky="0" algn="bl" rotWithShape="0" blurRad="76200" dist="25400" dir="5400000">
              <a:srgbClr val="000000">
                <a:alpha val="12000"/>
              </a:srgbClr>
            </a:outerShdw>
          </a:effectLst>
        </p:spPr>
      </p:sp>
      <p:pic>
        <p:nvPicPr>
          <p:cNvPr id="7" name="shot-docs" descr="shot-docs">    </p:cNvPr>
          <p:cNvPicPr>
            <a:picLocks noChangeAspect="1"/>
          </p:cNvPicPr>
          <p:nvPr/>
        </p:nvPicPr>
        <p:blipFill>
          <a:blip r:embed="rId2"/>
          <a:stretch>
            <a:fillRect/>
          </a:stretch>
        </p:blipFill>
        <p:spPr>
          <a:xfrm>
            <a:off x="6400800" y="1600200"/>
            <a:ext cx="5212080" cy="1797269"/>
          </a:xfrm>
          <a:prstGeom prst="rect">
            <a:avLst/>
          </a:prstGeom>
        </p:spPr>
      </p:pic>
      <p:sp>
        <p:nvSpPr>
          <p:cNvPr id="8" name="shot-rules-frame"/>
          <p:cNvSpPr/>
          <p:nvPr/>
        </p:nvSpPr>
        <p:spPr>
          <a:xfrm>
            <a:off x="6382512" y="3973541"/>
            <a:ext cx="5248656" cy="2058504"/>
          </a:xfrm>
          <a:prstGeom prst="rect">
            <a:avLst/>
          </a:prstGeom>
          <a:solidFill>
            <a:srgbClr val="D7DEE8"/>
          </a:solidFill>
          <a:ln/>
          <a:effectLst>
            <a:outerShdw sx="100000" sy="100000" kx="0" ky="0" algn="bl" rotWithShape="0" blurRad="76200" dist="25400" dir="5400000">
              <a:srgbClr val="000000">
                <a:alpha val="12000"/>
              </a:srgbClr>
            </a:outerShdw>
          </a:effectLst>
        </p:spPr>
      </p:sp>
      <p:pic>
        <p:nvPicPr>
          <p:cNvPr id="9" name="shot-rules" descr="shot-rules">    </p:cNvPr>
          <p:cNvPicPr>
            <a:picLocks noChangeAspect="1"/>
          </p:cNvPicPr>
          <p:nvPr/>
        </p:nvPicPr>
        <p:blipFill>
          <a:blip r:embed="rId3"/>
          <a:stretch>
            <a:fillRect/>
          </a:stretch>
        </p:blipFill>
        <p:spPr>
          <a:xfrm>
            <a:off x="6400800" y="3991829"/>
            <a:ext cx="5212080" cy="2021928"/>
          </a:xfrm>
          <a:prstGeom prst="rect">
            <a:avLst/>
          </a:prstGeom>
        </p:spPr>
      </p:pic>
      <p:sp>
        <p:nvSpPr>
          <p:cNvPr id="10" name="Text 5"/>
          <p:cNvSpPr txBox="1"/>
          <p:nvPr/>
        </p:nvSpPr>
        <p:spPr>
          <a:xfrm>
            <a:off x="6400800" y="3507197"/>
            <a:ext cx="5212080" cy="320040"/>
          </a:xfrm>
          <a:prstGeom prst="rect">
            <a:avLst/>
          </a:prstGeom>
          <a:noFill/>
          <a:ln/>
        </p:spPr>
        <p:txBody>
          <a:bodyPr wrap="square" lIns="0" tIns="0" rIns="0" bIns="0" rtlCol="0" anchor="t"/>
          <a:lstStyle/>
          <a:p>
            <a:pPr indent="0" marL="0">
              <a:buNone/>
            </a:pPr>
            <a:r>
              <a:rPr lang="en-US" sz="1300" b="1" dirty="0">
                <a:solidFill>
                  <a:schemeClr val="accent5"/>
                </a:solidFill>
              </a:rPr>
              <a:t>출력  </a:t>
            </a:r>
            <a:pPr indent="0" marL="0">
              <a:buNone/>
            </a:pPr>
            <a:r>
              <a:rPr lang="en-US" sz="1300" dirty="0">
                <a:solidFill>
                  <a:schemeClr val="tx1"/>
                </a:solidFill>
              </a:rPr>
              <a:t>승인 즉시 문서목록 등록 (NEW 표시)</a:t>
            </a:r>
            <a:endParaRPr lang="en-US" sz="1300" dirty="0"/>
          </a:p>
        </p:txBody>
      </p:sp>
      <p:sp>
        <p:nvSpPr>
          <p:cNvPr id="11" name="Text 6"/>
          <p:cNvSpPr txBox="1"/>
          <p:nvPr/>
        </p:nvSpPr>
        <p:spPr>
          <a:xfrm>
            <a:off x="6400800" y="6123485"/>
            <a:ext cx="5212080" cy="320040"/>
          </a:xfrm>
          <a:prstGeom prst="rect">
            <a:avLst/>
          </a:prstGeom>
          <a:noFill/>
          <a:ln/>
        </p:spPr>
        <p:txBody>
          <a:bodyPr wrap="square" lIns="0" tIns="0" rIns="0" bIns="0" rtlCol="0" anchor="t"/>
          <a:lstStyle/>
          <a:p>
            <a:pPr indent="0" marL="0">
              <a:buNone/>
            </a:pPr>
            <a:r>
              <a:rPr lang="en-US" sz="1300" b="1" dirty="0">
                <a:solidFill>
                  <a:schemeClr val="accent4"/>
                </a:solidFill>
              </a:rPr>
              <a:t>규칙 질의  </a:t>
            </a:r>
            <a:pPr indent="0" marL="0">
              <a:buNone/>
            </a:pPr>
            <a:r>
              <a:rPr lang="en-US" sz="1300" dirty="0">
                <a:solidFill>
                  <a:schemeClr val="tx1"/>
                </a:solidFill>
              </a:rPr>
              <a:t>질문 → 근거 규칙(C-06)과 함께 답변 (시연용)</a:t>
            </a:r>
            <a:endParaRPr lang="en-US" sz="1300" dirty="0"/>
          </a:p>
        </p:txBody>
      </p:sp>
      <p:sp>
        <p:nvSpPr>
          <p:cNvPr id="12" name="io-chip"/>
          <p:cNvSpPr/>
          <p:nvPr/>
        </p:nvSpPr>
        <p:spPr>
          <a:xfrm>
            <a:off x="548640" y="5577052"/>
            <a:ext cx="566928" cy="292608"/>
          </a:xfrm>
          <a:prstGeom prst="roundRect">
            <a:avLst>
              <a:gd name="adj" fmla="val 18750"/>
            </a:avLst>
          </a:prstGeom>
          <a:solidFill>
            <a:schemeClr val="accent5"/>
          </a:solidFill>
          <a:ln/>
        </p:spPr>
      </p:sp>
      <p:sp>
        <p:nvSpPr>
          <p:cNvPr id="13" name="Text 8"/>
          <p:cNvSpPr txBox="1"/>
          <p:nvPr/>
        </p:nvSpPr>
        <p:spPr>
          <a:xfrm>
            <a:off x="548640" y="5577052"/>
            <a:ext cx="566928" cy="292608"/>
          </a:xfrm>
          <a:prstGeom prst="rect">
            <a:avLst/>
          </a:prstGeom>
          <a:noFill/>
          <a:ln/>
        </p:spPr>
        <p:txBody>
          <a:bodyPr wrap="square" lIns="0" tIns="0" rIns="0" bIns="0" rtlCol="0" anchor="ctr"/>
          <a:lstStyle/>
          <a:p>
            <a:pPr algn="ctr" indent="0" marL="0">
              <a:buNone/>
            </a:pPr>
            <a:r>
              <a:rPr lang="en-US" sz="1100" b="1" dirty="0">
                <a:solidFill>
                  <a:schemeClr val="bg1"/>
                </a:solidFill>
              </a:rPr>
              <a:t>출력</a:t>
            </a:r>
            <a:endParaRPr lang="en-US" sz="1100" dirty="0"/>
          </a:p>
        </p:txBody>
      </p:sp>
      <p:sp>
        <p:nvSpPr>
          <p:cNvPr id="14" name="Text 9"/>
          <p:cNvSpPr txBox="1"/>
          <p:nvPr/>
        </p:nvSpPr>
        <p:spPr>
          <a:xfrm>
            <a:off x="1234440" y="5558764"/>
            <a:ext cx="4892040" cy="566928"/>
          </a:xfrm>
          <a:prstGeom prst="rect">
            <a:avLst/>
          </a:prstGeom>
          <a:noFill/>
          <a:ln/>
        </p:spPr>
        <p:txBody>
          <a:bodyPr wrap="square" lIns="0" tIns="0" rIns="0" bIns="0" rtlCol="0" anchor="t"/>
          <a:lstStyle/>
          <a:p>
            <a:pPr indent="0" marL="0">
              <a:buNone/>
            </a:pPr>
            <a:r>
              <a:rPr lang="en-US" sz="1300" dirty="0">
                <a:solidFill>
                  <a:schemeClr val="tx1"/>
                </a:solidFill>
              </a:rPr>
              <a:t>검토자 화면: 필수 0건 확인 + 작성자가 거부한 권고(C-06)를 함께 표시해 내용 판단에 집중</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04  AI 모델 후보</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품질과 보안 기준으로 모델 후보 비교</a:t>
            </a:r>
            <a:endParaRPr lang="en-US" sz="3000" dirty="0"/>
          </a:p>
        </p:txBody>
      </p:sp>
      <p:sp>
        <p:nvSpPr>
          <p:cNvPr id="4" name="cand-head"/>
          <p:cNvSpPr/>
          <p:nvPr/>
        </p:nvSpPr>
        <p:spPr>
          <a:xfrm>
            <a:off x="3063240" y="1600200"/>
            <a:ext cx="4206240" cy="914400"/>
          </a:xfrm>
          <a:prstGeom prst="roundRect">
            <a:avLst>
              <a:gd name="adj" fmla="val 8000"/>
            </a:avLst>
          </a:prstGeom>
          <a:solidFill>
            <a:schemeClr val="accent1">
              <a:alpha val="10000"/>
            </a:schemeClr>
          </a:solidFill>
          <a:ln/>
        </p:spPr>
      </p:sp>
      <p:sp>
        <p:nvSpPr>
          <p:cNvPr id="5" name="cand-icon-bg"/>
          <p:cNvSpPr/>
          <p:nvPr/>
        </p:nvSpPr>
        <p:spPr>
          <a:xfrm>
            <a:off x="3246120" y="1764792"/>
            <a:ext cx="585216" cy="585216"/>
          </a:xfrm>
          <a:prstGeom prst="ellipse">
            <a:avLst/>
          </a:prstGeom>
          <a:solidFill>
            <a:schemeClr val="accent1"/>
          </a:solidFill>
          <a:ln/>
        </p:spPr>
      </p:sp>
      <p:pic>
        <p:nvPicPr>
          <p:cNvPr id="6" name="cand-icon" descr="preencoded.png">    </p:cNvPr>
          <p:cNvPicPr>
            <a:picLocks noChangeAspect="1"/>
          </p:cNvPicPr>
          <p:nvPr/>
        </p:nvPicPr>
        <p:blipFill>
          <a:blip r:embed="rId1"/>
          <a:stretch>
            <a:fillRect/>
          </a:stretch>
        </p:blipFill>
        <p:spPr>
          <a:xfrm>
            <a:off x="3386572" y="1905244"/>
            <a:ext cx="304312" cy="304312"/>
          </a:xfrm>
          <a:prstGeom prst="rect">
            <a:avLst/>
          </a:prstGeom>
        </p:spPr>
      </p:pic>
      <p:sp>
        <p:nvSpPr>
          <p:cNvPr id="7" name="Text 4"/>
          <p:cNvSpPr txBox="1"/>
          <p:nvPr/>
        </p:nvSpPr>
        <p:spPr>
          <a:xfrm>
            <a:off x="3977640" y="1691640"/>
            <a:ext cx="3200400" cy="365760"/>
          </a:xfrm>
          <a:prstGeom prst="rect">
            <a:avLst/>
          </a:prstGeom>
          <a:noFill/>
          <a:ln/>
        </p:spPr>
        <p:txBody>
          <a:bodyPr wrap="square" lIns="0" tIns="0" rIns="0" bIns="0" rtlCol="0" anchor="t"/>
          <a:lstStyle/>
          <a:p>
            <a:pPr indent="0" marL="0">
              <a:buNone/>
            </a:pPr>
            <a:r>
              <a:rPr lang="en-US" sz="1600" b="1" dirty="0">
                <a:solidFill>
                  <a:schemeClr val="accent1"/>
                </a:solidFill>
              </a:rPr>
              <a:t>상용 LLM API</a:t>
            </a:r>
            <a:endParaRPr lang="en-US" sz="1600" dirty="0"/>
          </a:p>
        </p:txBody>
      </p:sp>
      <p:sp>
        <p:nvSpPr>
          <p:cNvPr id="8" name="Text 5"/>
          <p:cNvSpPr txBox="1"/>
          <p:nvPr/>
        </p:nvSpPr>
        <p:spPr>
          <a:xfrm>
            <a:off x="3977640" y="2057400"/>
            <a:ext cx="3200400" cy="320040"/>
          </a:xfrm>
          <a:prstGeom prst="rect">
            <a:avLst/>
          </a:prstGeom>
          <a:noFill/>
          <a:ln/>
        </p:spPr>
        <p:txBody>
          <a:bodyPr wrap="square" lIns="0" tIns="0" rIns="0" bIns="0" rtlCol="0" anchor="t"/>
          <a:lstStyle/>
          <a:p>
            <a:pPr indent="0" marL="0">
              <a:buNone/>
            </a:pPr>
            <a:r>
              <a:rPr lang="en-US" sz="1200" dirty="0">
                <a:solidFill>
                  <a:schemeClr val="accent6"/>
                </a:solidFill>
              </a:rPr>
              <a:t>예: Claude, GPT 계열</a:t>
            </a:r>
            <a:endParaRPr lang="en-US" sz="1200" dirty="0"/>
          </a:p>
        </p:txBody>
      </p:sp>
      <p:sp>
        <p:nvSpPr>
          <p:cNvPr id="9" name="cand-head"/>
          <p:cNvSpPr/>
          <p:nvPr/>
        </p:nvSpPr>
        <p:spPr>
          <a:xfrm>
            <a:off x="7406640" y="1600200"/>
            <a:ext cx="4206240" cy="914400"/>
          </a:xfrm>
          <a:prstGeom prst="roundRect">
            <a:avLst>
              <a:gd name="adj" fmla="val 8000"/>
            </a:avLst>
          </a:prstGeom>
          <a:solidFill>
            <a:schemeClr val="accent5">
              <a:alpha val="10000"/>
            </a:schemeClr>
          </a:solidFill>
          <a:ln/>
        </p:spPr>
      </p:sp>
      <p:sp>
        <p:nvSpPr>
          <p:cNvPr id="10" name="cand-icon-bg"/>
          <p:cNvSpPr/>
          <p:nvPr/>
        </p:nvSpPr>
        <p:spPr>
          <a:xfrm>
            <a:off x="7589520" y="1764792"/>
            <a:ext cx="585216" cy="585216"/>
          </a:xfrm>
          <a:prstGeom prst="ellipse">
            <a:avLst/>
          </a:prstGeom>
          <a:solidFill>
            <a:schemeClr val="accent5"/>
          </a:solidFill>
          <a:ln/>
        </p:spPr>
      </p:sp>
      <p:pic>
        <p:nvPicPr>
          <p:cNvPr id="11" name="cand-icon" descr="preencoded.png">    </p:cNvPr>
          <p:cNvPicPr>
            <a:picLocks noChangeAspect="1"/>
          </p:cNvPicPr>
          <p:nvPr/>
        </p:nvPicPr>
        <p:blipFill>
          <a:blip r:embed="rId2"/>
          <a:stretch>
            <a:fillRect/>
          </a:stretch>
        </p:blipFill>
        <p:spPr>
          <a:xfrm>
            <a:off x="7729972" y="1905244"/>
            <a:ext cx="304312" cy="304312"/>
          </a:xfrm>
          <a:prstGeom prst="rect">
            <a:avLst/>
          </a:prstGeom>
        </p:spPr>
      </p:pic>
      <p:sp>
        <p:nvSpPr>
          <p:cNvPr id="12" name="Text 8"/>
          <p:cNvSpPr txBox="1"/>
          <p:nvPr/>
        </p:nvSpPr>
        <p:spPr>
          <a:xfrm>
            <a:off x="8321040" y="1691640"/>
            <a:ext cx="3200400" cy="365760"/>
          </a:xfrm>
          <a:prstGeom prst="rect">
            <a:avLst/>
          </a:prstGeom>
          <a:noFill/>
          <a:ln/>
        </p:spPr>
        <p:txBody>
          <a:bodyPr wrap="square" lIns="0" tIns="0" rIns="0" bIns="0" rtlCol="0" anchor="t"/>
          <a:lstStyle/>
          <a:p>
            <a:pPr indent="0" marL="0">
              <a:buNone/>
            </a:pPr>
            <a:r>
              <a:rPr lang="en-US" sz="1600" b="1" dirty="0">
                <a:solidFill>
                  <a:schemeClr val="accent5"/>
                </a:solidFill>
              </a:rPr>
              <a:t>사내 구축형 오픈소스 LLM</a:t>
            </a:r>
            <a:endParaRPr lang="en-US" sz="1600" dirty="0"/>
          </a:p>
        </p:txBody>
      </p:sp>
      <p:sp>
        <p:nvSpPr>
          <p:cNvPr id="13" name="Text 9"/>
          <p:cNvSpPr txBox="1"/>
          <p:nvPr/>
        </p:nvSpPr>
        <p:spPr>
          <a:xfrm>
            <a:off x="8321040" y="2057400"/>
            <a:ext cx="3200400" cy="320040"/>
          </a:xfrm>
          <a:prstGeom prst="rect">
            <a:avLst/>
          </a:prstGeom>
          <a:noFill/>
          <a:ln/>
        </p:spPr>
        <p:txBody>
          <a:bodyPr wrap="square" lIns="0" tIns="0" rIns="0" bIns="0" rtlCol="0" anchor="t"/>
          <a:lstStyle/>
          <a:p>
            <a:pPr indent="0" marL="0">
              <a:buNone/>
            </a:pPr>
            <a:r>
              <a:rPr lang="en-US" sz="1200" dirty="0">
                <a:solidFill>
                  <a:schemeClr val="accent6"/>
                </a:solidFill>
              </a:rPr>
              <a:t>예: Llama, Qwen 계열</a:t>
            </a:r>
            <a:endParaRPr lang="en-US" sz="1200" dirty="0"/>
          </a:p>
        </p:txBody>
      </p:sp>
      <p:sp>
        <p:nvSpPr>
          <p:cNvPr id="14" name="row-bg"/>
          <p:cNvSpPr/>
          <p:nvPr/>
        </p:nvSpPr>
        <p:spPr>
          <a:xfrm>
            <a:off x="548640" y="2697480"/>
            <a:ext cx="11064240" cy="502920"/>
          </a:xfrm>
          <a:prstGeom prst="rect">
            <a:avLst/>
          </a:prstGeom>
          <a:solidFill>
            <a:schemeClr val="bg2"/>
          </a:solidFill>
          <a:ln/>
        </p:spPr>
      </p:sp>
      <p:sp>
        <p:nvSpPr>
          <p:cNvPr id="15" name="Text 11"/>
          <p:cNvSpPr txBox="1"/>
          <p:nvPr/>
        </p:nvSpPr>
        <p:spPr>
          <a:xfrm>
            <a:off x="731520" y="2697480"/>
            <a:ext cx="2194560" cy="502920"/>
          </a:xfrm>
          <a:prstGeom prst="rect">
            <a:avLst/>
          </a:prstGeom>
          <a:noFill/>
          <a:ln/>
        </p:spPr>
        <p:txBody>
          <a:bodyPr wrap="square" lIns="0" tIns="0" rIns="0" bIns="0" rtlCol="0" anchor="ctr"/>
          <a:lstStyle/>
          <a:p>
            <a:pPr indent="0" marL="0">
              <a:buNone/>
            </a:pPr>
            <a:r>
              <a:rPr lang="en-US" sz="1400" b="1" dirty="0">
                <a:solidFill>
                  <a:schemeClr val="tx2"/>
                </a:solidFill>
              </a:rPr>
              <a:t>한국어 문맥 판정</a:t>
            </a:r>
            <a:endParaRPr lang="en-US" sz="1400" dirty="0"/>
          </a:p>
        </p:txBody>
      </p:sp>
      <p:sp>
        <p:nvSpPr>
          <p:cNvPr id="16" name="Text 12"/>
          <p:cNvSpPr txBox="1"/>
          <p:nvPr/>
        </p:nvSpPr>
        <p:spPr>
          <a:xfrm>
            <a:off x="3246120" y="2697480"/>
            <a:ext cx="3931920" cy="502920"/>
          </a:xfrm>
          <a:prstGeom prst="rect">
            <a:avLst/>
          </a:prstGeom>
          <a:noFill/>
          <a:ln/>
        </p:spPr>
        <p:txBody>
          <a:bodyPr wrap="square" lIns="0" tIns="0" rIns="0" bIns="0" rtlCol="0" anchor="ctr"/>
          <a:lstStyle/>
          <a:p>
            <a:pPr indent="0" marL="0">
              <a:buNone/>
            </a:pPr>
            <a:r>
              <a:rPr lang="en-US" sz="1300" dirty="0">
                <a:solidFill>
                  <a:schemeClr val="tx1"/>
                </a:solidFill>
              </a:rPr>
              <a:t>높은 품질 기대. 프롬프트만으로 시작 가능</a:t>
            </a:r>
            <a:endParaRPr lang="en-US" sz="1300" dirty="0"/>
          </a:p>
        </p:txBody>
      </p:sp>
      <p:sp>
        <p:nvSpPr>
          <p:cNvPr id="17" name="Text 13"/>
          <p:cNvSpPr txBox="1"/>
          <p:nvPr/>
        </p:nvSpPr>
        <p:spPr>
          <a:xfrm>
            <a:off x="7589520" y="2697480"/>
            <a:ext cx="3931920" cy="502920"/>
          </a:xfrm>
          <a:prstGeom prst="rect">
            <a:avLst/>
          </a:prstGeom>
          <a:noFill/>
          <a:ln/>
        </p:spPr>
        <p:txBody>
          <a:bodyPr wrap="square" lIns="0" tIns="0" rIns="0" bIns="0" rtlCol="0" anchor="ctr"/>
          <a:lstStyle/>
          <a:p>
            <a:pPr indent="0" marL="0">
              <a:buNone/>
            </a:pPr>
            <a:r>
              <a:rPr lang="en-US" sz="1300" dirty="0">
                <a:solidFill>
                  <a:schemeClr val="tx1"/>
                </a:solidFill>
              </a:rPr>
              <a:t>모델·튜닝 수준에 따라 편차 큼</a:t>
            </a:r>
            <a:endParaRPr lang="en-US" sz="1300" dirty="0"/>
          </a:p>
        </p:txBody>
      </p:sp>
      <p:sp>
        <p:nvSpPr>
          <p:cNvPr id="18" name="Text 14"/>
          <p:cNvSpPr txBox="1"/>
          <p:nvPr/>
        </p:nvSpPr>
        <p:spPr>
          <a:xfrm>
            <a:off x="731520" y="3200400"/>
            <a:ext cx="2194560" cy="502920"/>
          </a:xfrm>
          <a:prstGeom prst="rect">
            <a:avLst/>
          </a:prstGeom>
          <a:noFill/>
          <a:ln/>
        </p:spPr>
        <p:txBody>
          <a:bodyPr wrap="square" lIns="0" tIns="0" rIns="0" bIns="0" rtlCol="0" anchor="ctr"/>
          <a:lstStyle/>
          <a:p>
            <a:pPr indent="0" marL="0">
              <a:buNone/>
            </a:pPr>
            <a:r>
              <a:rPr lang="en-US" sz="1400" b="1" dirty="0">
                <a:solidFill>
                  <a:schemeClr val="tx2"/>
                </a:solidFill>
              </a:rPr>
              <a:t>문서 보안</a:t>
            </a:r>
            <a:endParaRPr lang="en-US" sz="1400" dirty="0"/>
          </a:p>
        </p:txBody>
      </p:sp>
      <p:sp>
        <p:nvSpPr>
          <p:cNvPr id="19" name="Text 15"/>
          <p:cNvSpPr txBox="1"/>
          <p:nvPr/>
        </p:nvSpPr>
        <p:spPr>
          <a:xfrm>
            <a:off x="3246120" y="3200400"/>
            <a:ext cx="3931920" cy="502920"/>
          </a:xfrm>
          <a:prstGeom prst="rect">
            <a:avLst/>
          </a:prstGeom>
          <a:noFill/>
          <a:ln/>
        </p:spPr>
        <p:txBody>
          <a:bodyPr wrap="square" lIns="0" tIns="0" rIns="0" bIns="0" rtlCol="0" anchor="ctr"/>
          <a:lstStyle/>
          <a:p>
            <a:pPr indent="0" marL="0">
              <a:buNone/>
            </a:pPr>
            <a:r>
              <a:rPr lang="en-US" sz="1300" dirty="0">
                <a:solidFill>
                  <a:schemeClr val="tx1"/>
                </a:solidFill>
              </a:rPr>
              <a:t>문서 외부 전송 → 기업 계약·보안 검토 필요</a:t>
            </a:r>
            <a:endParaRPr lang="en-US" sz="1300" dirty="0"/>
          </a:p>
        </p:txBody>
      </p:sp>
      <p:sp>
        <p:nvSpPr>
          <p:cNvPr id="20" name="Text 16"/>
          <p:cNvSpPr txBox="1"/>
          <p:nvPr/>
        </p:nvSpPr>
        <p:spPr>
          <a:xfrm>
            <a:off x="7589520" y="3200400"/>
            <a:ext cx="3931920" cy="502920"/>
          </a:xfrm>
          <a:prstGeom prst="rect">
            <a:avLst/>
          </a:prstGeom>
          <a:noFill/>
          <a:ln/>
        </p:spPr>
        <p:txBody>
          <a:bodyPr wrap="square" lIns="0" tIns="0" rIns="0" bIns="0" rtlCol="0" anchor="ctr"/>
          <a:lstStyle/>
          <a:p>
            <a:pPr indent="0" marL="0">
              <a:buNone/>
            </a:pPr>
            <a:r>
              <a:rPr lang="en-US" sz="1300" dirty="0">
                <a:solidFill>
                  <a:schemeClr val="tx1"/>
                </a:solidFill>
              </a:rPr>
              <a:t>사내망 처리. 외부 유출 없음</a:t>
            </a:r>
            <a:endParaRPr lang="en-US" sz="1300" dirty="0"/>
          </a:p>
        </p:txBody>
      </p:sp>
      <p:sp>
        <p:nvSpPr>
          <p:cNvPr id="21" name="row-bg"/>
          <p:cNvSpPr/>
          <p:nvPr/>
        </p:nvSpPr>
        <p:spPr>
          <a:xfrm>
            <a:off x="548640" y="3703320"/>
            <a:ext cx="11064240" cy="502920"/>
          </a:xfrm>
          <a:prstGeom prst="rect">
            <a:avLst/>
          </a:prstGeom>
          <a:solidFill>
            <a:schemeClr val="bg2"/>
          </a:solidFill>
          <a:ln/>
        </p:spPr>
      </p:sp>
      <p:sp>
        <p:nvSpPr>
          <p:cNvPr id="22" name="Text 18"/>
          <p:cNvSpPr txBox="1"/>
          <p:nvPr/>
        </p:nvSpPr>
        <p:spPr>
          <a:xfrm>
            <a:off x="731520" y="3703320"/>
            <a:ext cx="2194560" cy="502920"/>
          </a:xfrm>
          <a:prstGeom prst="rect">
            <a:avLst/>
          </a:prstGeom>
          <a:noFill/>
          <a:ln/>
        </p:spPr>
        <p:txBody>
          <a:bodyPr wrap="square" lIns="0" tIns="0" rIns="0" bIns="0" rtlCol="0" anchor="ctr"/>
          <a:lstStyle/>
          <a:p>
            <a:pPr indent="0" marL="0">
              <a:buNone/>
            </a:pPr>
            <a:r>
              <a:rPr lang="en-US" sz="1400" b="1" dirty="0">
                <a:solidFill>
                  <a:schemeClr val="tx2"/>
                </a:solidFill>
              </a:rPr>
              <a:t>초기 구축</a:t>
            </a:r>
            <a:endParaRPr lang="en-US" sz="1400" dirty="0"/>
          </a:p>
        </p:txBody>
      </p:sp>
      <p:sp>
        <p:nvSpPr>
          <p:cNvPr id="23" name="Text 19"/>
          <p:cNvSpPr txBox="1"/>
          <p:nvPr/>
        </p:nvSpPr>
        <p:spPr>
          <a:xfrm>
            <a:off x="3246120" y="3703320"/>
            <a:ext cx="3931920" cy="502920"/>
          </a:xfrm>
          <a:prstGeom prst="rect">
            <a:avLst/>
          </a:prstGeom>
          <a:noFill/>
          <a:ln/>
        </p:spPr>
        <p:txBody>
          <a:bodyPr wrap="square" lIns="0" tIns="0" rIns="0" bIns="0" rtlCol="0" anchor="ctr"/>
          <a:lstStyle/>
          <a:p>
            <a:pPr indent="0" marL="0">
              <a:buNone/>
            </a:pPr>
            <a:r>
              <a:rPr lang="en-US" sz="1300" dirty="0">
                <a:solidFill>
                  <a:schemeClr val="tx1"/>
                </a:solidFill>
              </a:rPr>
              <a:t>낮음 — API 키 발급 후 바로 연동</a:t>
            </a:r>
            <a:endParaRPr lang="en-US" sz="1300" dirty="0"/>
          </a:p>
        </p:txBody>
      </p:sp>
      <p:sp>
        <p:nvSpPr>
          <p:cNvPr id="24" name="Text 20"/>
          <p:cNvSpPr txBox="1"/>
          <p:nvPr/>
        </p:nvSpPr>
        <p:spPr>
          <a:xfrm>
            <a:off x="7589520" y="3703320"/>
            <a:ext cx="3931920" cy="502920"/>
          </a:xfrm>
          <a:prstGeom prst="rect">
            <a:avLst/>
          </a:prstGeom>
          <a:noFill/>
          <a:ln/>
        </p:spPr>
        <p:txBody>
          <a:bodyPr wrap="square" lIns="0" tIns="0" rIns="0" bIns="0" rtlCol="0" anchor="ctr"/>
          <a:lstStyle/>
          <a:p>
            <a:pPr indent="0" marL="0">
              <a:buNone/>
            </a:pPr>
            <a:r>
              <a:rPr lang="en-US" sz="1300" dirty="0">
                <a:solidFill>
                  <a:schemeClr val="tx1"/>
                </a:solidFill>
              </a:rPr>
              <a:t>높음 — GPU 서버·운영 인력 필요</a:t>
            </a:r>
            <a:endParaRPr lang="en-US" sz="1300" dirty="0"/>
          </a:p>
        </p:txBody>
      </p:sp>
      <p:sp>
        <p:nvSpPr>
          <p:cNvPr id="25" name="Text 21"/>
          <p:cNvSpPr txBox="1"/>
          <p:nvPr/>
        </p:nvSpPr>
        <p:spPr>
          <a:xfrm>
            <a:off x="731520" y="4206240"/>
            <a:ext cx="2194560" cy="502920"/>
          </a:xfrm>
          <a:prstGeom prst="rect">
            <a:avLst/>
          </a:prstGeom>
          <a:noFill/>
          <a:ln/>
        </p:spPr>
        <p:txBody>
          <a:bodyPr wrap="square" lIns="0" tIns="0" rIns="0" bIns="0" rtlCol="0" anchor="ctr"/>
          <a:lstStyle/>
          <a:p>
            <a:pPr indent="0" marL="0">
              <a:buNone/>
            </a:pPr>
            <a:r>
              <a:rPr lang="en-US" sz="1400" b="1" dirty="0">
                <a:solidFill>
                  <a:schemeClr val="tx2"/>
                </a:solidFill>
              </a:rPr>
              <a:t>운영 비용</a:t>
            </a:r>
            <a:endParaRPr lang="en-US" sz="1400" dirty="0"/>
          </a:p>
        </p:txBody>
      </p:sp>
      <p:sp>
        <p:nvSpPr>
          <p:cNvPr id="26" name="Text 22"/>
          <p:cNvSpPr txBox="1"/>
          <p:nvPr/>
        </p:nvSpPr>
        <p:spPr>
          <a:xfrm>
            <a:off x="3246120" y="4206240"/>
            <a:ext cx="3931920" cy="502920"/>
          </a:xfrm>
          <a:prstGeom prst="rect">
            <a:avLst/>
          </a:prstGeom>
          <a:noFill/>
          <a:ln/>
        </p:spPr>
        <p:txBody>
          <a:bodyPr wrap="square" lIns="0" tIns="0" rIns="0" bIns="0" rtlCol="0" anchor="ctr"/>
          <a:lstStyle/>
          <a:p>
            <a:pPr indent="0" marL="0">
              <a:buNone/>
            </a:pPr>
            <a:r>
              <a:rPr lang="en-US" sz="1300" dirty="0">
                <a:solidFill>
                  <a:schemeClr val="tx1"/>
                </a:solidFill>
              </a:rPr>
              <a:t>사용량 비례 과금</a:t>
            </a:r>
            <a:endParaRPr lang="en-US" sz="1300" dirty="0"/>
          </a:p>
        </p:txBody>
      </p:sp>
      <p:sp>
        <p:nvSpPr>
          <p:cNvPr id="27" name="Text 23"/>
          <p:cNvSpPr txBox="1"/>
          <p:nvPr/>
        </p:nvSpPr>
        <p:spPr>
          <a:xfrm>
            <a:off x="7589520" y="4206240"/>
            <a:ext cx="3931920" cy="502920"/>
          </a:xfrm>
          <a:prstGeom prst="rect">
            <a:avLst/>
          </a:prstGeom>
          <a:noFill/>
          <a:ln/>
        </p:spPr>
        <p:txBody>
          <a:bodyPr wrap="square" lIns="0" tIns="0" rIns="0" bIns="0" rtlCol="0" anchor="ctr"/>
          <a:lstStyle/>
          <a:p>
            <a:pPr indent="0" marL="0">
              <a:buNone/>
            </a:pPr>
            <a:r>
              <a:rPr lang="en-US" sz="1300" dirty="0">
                <a:solidFill>
                  <a:schemeClr val="tx1"/>
                </a:solidFill>
              </a:rPr>
              <a:t>서버 고정비 중심</a:t>
            </a:r>
            <a:endParaRPr lang="en-US" sz="1300" dirty="0"/>
          </a:p>
        </p:txBody>
      </p:sp>
      <p:sp>
        <p:nvSpPr>
          <p:cNvPr id="28" name="row-bg"/>
          <p:cNvSpPr/>
          <p:nvPr/>
        </p:nvSpPr>
        <p:spPr>
          <a:xfrm>
            <a:off x="548640" y="4709160"/>
            <a:ext cx="11064240" cy="502920"/>
          </a:xfrm>
          <a:prstGeom prst="rect">
            <a:avLst/>
          </a:prstGeom>
          <a:solidFill>
            <a:schemeClr val="bg2"/>
          </a:solidFill>
          <a:ln/>
        </p:spPr>
      </p:sp>
      <p:sp>
        <p:nvSpPr>
          <p:cNvPr id="29" name="Text 25"/>
          <p:cNvSpPr txBox="1"/>
          <p:nvPr/>
        </p:nvSpPr>
        <p:spPr>
          <a:xfrm>
            <a:off x="731520" y="4709160"/>
            <a:ext cx="2194560" cy="502920"/>
          </a:xfrm>
          <a:prstGeom prst="rect">
            <a:avLst/>
          </a:prstGeom>
          <a:noFill/>
          <a:ln/>
        </p:spPr>
        <p:txBody>
          <a:bodyPr wrap="square" lIns="0" tIns="0" rIns="0" bIns="0" rtlCol="0" anchor="ctr"/>
          <a:lstStyle/>
          <a:p>
            <a:pPr indent="0" marL="0">
              <a:buNone/>
            </a:pPr>
            <a:r>
              <a:rPr lang="en-US" sz="1400" b="1" dirty="0">
                <a:solidFill>
                  <a:schemeClr val="tx2"/>
                </a:solidFill>
              </a:rPr>
              <a:t>적합 단계</a:t>
            </a:r>
            <a:endParaRPr lang="en-US" sz="1400" dirty="0"/>
          </a:p>
        </p:txBody>
      </p:sp>
      <p:sp>
        <p:nvSpPr>
          <p:cNvPr id="30" name="Text 26"/>
          <p:cNvSpPr txBox="1"/>
          <p:nvPr/>
        </p:nvSpPr>
        <p:spPr>
          <a:xfrm>
            <a:off x="3246120" y="4709160"/>
            <a:ext cx="3931920" cy="502920"/>
          </a:xfrm>
          <a:prstGeom prst="rect">
            <a:avLst/>
          </a:prstGeom>
          <a:noFill/>
          <a:ln/>
        </p:spPr>
        <p:txBody>
          <a:bodyPr wrap="square" lIns="0" tIns="0" rIns="0" bIns="0" rtlCol="0" anchor="ctr"/>
          <a:lstStyle/>
          <a:p>
            <a:pPr indent="0" marL="0">
              <a:buNone/>
            </a:pPr>
            <a:r>
              <a:rPr lang="en-US" sz="1300" dirty="0">
                <a:solidFill>
                  <a:schemeClr val="tx1"/>
                </a:solidFill>
              </a:rPr>
              <a:t>시범 운영·품질 검증</a:t>
            </a:r>
            <a:endParaRPr lang="en-US" sz="1300" dirty="0"/>
          </a:p>
        </p:txBody>
      </p:sp>
      <p:sp>
        <p:nvSpPr>
          <p:cNvPr id="31" name="Text 27"/>
          <p:cNvSpPr txBox="1"/>
          <p:nvPr/>
        </p:nvSpPr>
        <p:spPr>
          <a:xfrm>
            <a:off x="7589520" y="4709160"/>
            <a:ext cx="3931920" cy="502920"/>
          </a:xfrm>
          <a:prstGeom prst="rect">
            <a:avLst/>
          </a:prstGeom>
          <a:noFill/>
          <a:ln/>
        </p:spPr>
        <p:txBody>
          <a:bodyPr wrap="square" lIns="0" tIns="0" rIns="0" bIns="0" rtlCol="0" anchor="ctr"/>
          <a:lstStyle/>
          <a:p>
            <a:pPr indent="0" marL="0">
              <a:buNone/>
            </a:pPr>
            <a:r>
              <a:rPr lang="en-US" sz="1300" dirty="0">
                <a:solidFill>
                  <a:schemeClr val="tx1"/>
                </a:solidFill>
              </a:rPr>
              <a:t>전사 확산·보안 요구 높을 때</a:t>
            </a:r>
            <a:endParaRPr lang="en-US" sz="1300" dirty="0"/>
          </a:p>
        </p:txBody>
      </p:sp>
      <p:sp>
        <p:nvSpPr>
          <p:cNvPr id="32" name="recommend"/>
          <p:cNvSpPr/>
          <p:nvPr/>
        </p:nvSpPr>
        <p:spPr>
          <a:xfrm>
            <a:off x="548640" y="5394960"/>
            <a:ext cx="11064240" cy="777240"/>
          </a:xfrm>
          <a:prstGeom prst="roundRect">
            <a:avLst>
              <a:gd name="adj" fmla="val 9412"/>
            </a:avLst>
          </a:prstGeom>
          <a:solidFill>
            <a:schemeClr val="tx2"/>
          </a:solidFill>
          <a:ln/>
        </p:spPr>
      </p:sp>
      <p:sp>
        <p:nvSpPr>
          <p:cNvPr id="33" name="recommend-icon-bg"/>
          <p:cNvSpPr/>
          <p:nvPr/>
        </p:nvSpPr>
        <p:spPr>
          <a:xfrm>
            <a:off x="731520" y="5532120"/>
            <a:ext cx="502920" cy="502920"/>
          </a:xfrm>
          <a:prstGeom prst="ellipse">
            <a:avLst/>
          </a:prstGeom>
          <a:solidFill>
            <a:schemeClr val="accent1"/>
          </a:solidFill>
          <a:ln/>
        </p:spPr>
      </p:sp>
      <p:pic>
        <p:nvPicPr>
          <p:cNvPr id="34" name="recommend-icon" descr="preencoded.png">    </p:cNvPr>
          <p:cNvPicPr>
            <a:picLocks noChangeAspect="1"/>
          </p:cNvPicPr>
          <p:nvPr/>
        </p:nvPicPr>
        <p:blipFill>
          <a:blip r:embed="rId3"/>
          <a:stretch>
            <a:fillRect/>
          </a:stretch>
        </p:blipFill>
        <p:spPr>
          <a:xfrm>
            <a:off x="852221" y="5652821"/>
            <a:ext cx="261518" cy="261518"/>
          </a:xfrm>
          <a:prstGeom prst="rect">
            <a:avLst/>
          </a:prstGeom>
        </p:spPr>
      </p:pic>
      <p:sp>
        <p:nvSpPr>
          <p:cNvPr id="35" name="Text 30"/>
          <p:cNvSpPr txBox="1"/>
          <p:nvPr/>
        </p:nvSpPr>
        <p:spPr>
          <a:xfrm>
            <a:off x="1417320" y="5394960"/>
            <a:ext cx="10058400" cy="777240"/>
          </a:xfrm>
          <a:prstGeom prst="rect">
            <a:avLst/>
          </a:prstGeom>
          <a:noFill/>
          <a:ln/>
        </p:spPr>
        <p:txBody>
          <a:bodyPr wrap="square" lIns="0" tIns="0" rIns="0" bIns="0" rtlCol="0" anchor="ctr"/>
          <a:lstStyle/>
          <a:p>
            <a:pPr indent="0" marL="0">
              <a:buNone/>
            </a:pPr>
            <a:r>
              <a:rPr lang="en-US" sz="1400" b="1" dirty="0">
                <a:solidFill>
                  <a:srgbClr val="FFFFFF"/>
                </a:solidFill>
              </a:rPr>
              <a:t>추천  </a:t>
            </a:r>
            <a:pPr indent="0" marL="0">
              <a:buNone/>
            </a:pPr>
            <a:r>
              <a:rPr lang="en-US" sz="1400" dirty="0">
                <a:solidFill>
                  <a:srgbClr val="EEF3F9"/>
                </a:solidFill>
              </a:rPr>
              <a:t>시범 단계는 상용 API로 판정 품질 검증 → 확산 시 회사 보안 정책에 따라 사내 모델 전환 검토. 공통으로 규칙 검색용 임베딩 모델 + 벡터 DB 사용</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algn="l" indent="0" marL="0">
              <a:buNone/>
            </a:pPr>
            <a:r>
              <a:rPr lang="en-US" sz="1300" b="1" dirty="0">
                <a:solidFill>
                  <a:schemeClr val="accent1"/>
                </a:solidFill>
              </a:rPr>
              <a:t>04  AI 활용 방안 · 향후 계획</a:t>
            </a:r>
            <a:endParaRPr lang="en-US" sz="13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규칙집 검색(RAG) + LLM으로 문맥 규칙 판정</a:t>
            </a:r>
            <a:endParaRPr lang="en-US" sz="3000" dirty="0"/>
          </a:p>
        </p:txBody>
      </p:sp>
      <p:sp>
        <p:nvSpPr>
          <p:cNvPr id="4" name="rag-step"/>
          <p:cNvSpPr/>
          <p:nvPr/>
        </p:nvSpPr>
        <p:spPr>
          <a:xfrm>
            <a:off x="548640" y="1600200"/>
            <a:ext cx="2011680" cy="1920240"/>
          </a:xfrm>
          <a:prstGeom prst="roundRect">
            <a:avLst>
              <a:gd name="adj" fmla="val 3810"/>
            </a:avLst>
          </a:prstGeom>
          <a:solidFill>
            <a:schemeClr val="bg2"/>
          </a:solidFill>
          <a:ln/>
        </p:spPr>
      </p:sp>
      <p:sp>
        <p:nvSpPr>
          <p:cNvPr id="5" name="rag-icon-bg"/>
          <p:cNvSpPr/>
          <p:nvPr/>
        </p:nvSpPr>
        <p:spPr>
          <a:xfrm>
            <a:off x="1271016" y="1783080"/>
            <a:ext cx="566928" cy="566928"/>
          </a:xfrm>
          <a:prstGeom prst="ellipse">
            <a:avLst/>
          </a:prstGeom>
          <a:solidFill>
            <a:schemeClr val="accent1"/>
          </a:solidFill>
          <a:ln/>
        </p:spPr>
      </p:sp>
      <p:pic>
        <p:nvPicPr>
          <p:cNvPr id="6" name="rag-icon" descr="preencoded.png">    </p:cNvPr>
          <p:cNvPicPr>
            <a:picLocks noChangeAspect="1"/>
          </p:cNvPicPr>
          <p:nvPr/>
        </p:nvPicPr>
        <p:blipFill>
          <a:blip r:embed="rId1"/>
          <a:stretch>
            <a:fillRect/>
          </a:stretch>
        </p:blipFill>
        <p:spPr>
          <a:xfrm>
            <a:off x="1407079" y="1919143"/>
            <a:ext cx="294803" cy="294803"/>
          </a:xfrm>
          <a:prstGeom prst="rect">
            <a:avLst/>
          </a:prstGeom>
        </p:spPr>
      </p:pic>
      <p:sp>
        <p:nvSpPr>
          <p:cNvPr id="7" name="Text 4"/>
          <p:cNvSpPr txBox="1"/>
          <p:nvPr/>
        </p:nvSpPr>
        <p:spPr>
          <a:xfrm>
            <a:off x="640080" y="2468880"/>
            <a:ext cx="1828800" cy="347472"/>
          </a:xfrm>
          <a:prstGeom prst="rect">
            <a:avLst/>
          </a:prstGeom>
          <a:noFill/>
          <a:ln/>
        </p:spPr>
        <p:txBody>
          <a:bodyPr wrap="square" lIns="0" tIns="0" rIns="0" bIns="0" rtlCol="0" anchor="t"/>
          <a:lstStyle/>
          <a:p>
            <a:pPr algn="ctr" indent="0" marL="0">
              <a:buNone/>
            </a:pPr>
            <a:r>
              <a:rPr lang="en-US" sz="1500" b="1" dirty="0">
                <a:solidFill>
                  <a:schemeClr val="tx2"/>
                </a:solidFill>
              </a:rPr>
              <a:t>문서 입력</a:t>
            </a:r>
            <a:endParaRPr lang="en-US" sz="1500" dirty="0"/>
          </a:p>
        </p:txBody>
      </p:sp>
      <p:sp>
        <p:nvSpPr>
          <p:cNvPr id="8" name="Text 5"/>
          <p:cNvSpPr txBox="1"/>
          <p:nvPr/>
        </p:nvSpPr>
        <p:spPr>
          <a:xfrm>
            <a:off x="685800" y="283464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절 단위로 분할</a:t>
            </a:r>
            <a:endParaRPr lang="en-US" sz="1200" dirty="0"/>
          </a:p>
        </p:txBody>
      </p:sp>
      <p:sp>
        <p:nvSpPr>
          <p:cNvPr id="9" name="arrow"/>
          <p:cNvSpPr/>
          <p:nvPr/>
        </p:nvSpPr>
        <p:spPr>
          <a:xfrm>
            <a:off x="2587752" y="2560320"/>
            <a:ext cx="196596" cy="0"/>
          </a:xfrm>
          <a:prstGeom prst="line">
            <a:avLst/>
          </a:prstGeom>
          <a:noFill/>
          <a:ln w="22225">
            <a:solidFill>
              <a:schemeClr val="accent6"/>
            </a:solidFill>
            <a:prstDash val="solid"/>
            <a:tailEnd type="triangle"/>
          </a:ln>
        </p:spPr>
      </p:sp>
      <p:sp>
        <p:nvSpPr>
          <p:cNvPr id="10" name="rag-step"/>
          <p:cNvSpPr/>
          <p:nvPr/>
        </p:nvSpPr>
        <p:spPr>
          <a:xfrm>
            <a:off x="2811780" y="1600200"/>
            <a:ext cx="2011680" cy="1920240"/>
          </a:xfrm>
          <a:prstGeom prst="roundRect">
            <a:avLst>
              <a:gd name="adj" fmla="val 3810"/>
            </a:avLst>
          </a:prstGeom>
          <a:solidFill>
            <a:schemeClr val="accent4">
              <a:alpha val="10000"/>
            </a:schemeClr>
          </a:solidFill>
          <a:ln/>
        </p:spPr>
      </p:sp>
      <p:sp>
        <p:nvSpPr>
          <p:cNvPr id="11" name="rag-icon-bg"/>
          <p:cNvSpPr/>
          <p:nvPr/>
        </p:nvSpPr>
        <p:spPr>
          <a:xfrm>
            <a:off x="3534156" y="1783080"/>
            <a:ext cx="566928" cy="566928"/>
          </a:xfrm>
          <a:prstGeom prst="ellipse">
            <a:avLst/>
          </a:prstGeom>
          <a:solidFill>
            <a:schemeClr val="accent4"/>
          </a:solidFill>
          <a:ln/>
        </p:spPr>
      </p:sp>
      <p:pic>
        <p:nvPicPr>
          <p:cNvPr id="12" name="rag-icon" descr="preencoded.png">    </p:cNvPr>
          <p:cNvPicPr>
            <a:picLocks noChangeAspect="1"/>
          </p:cNvPicPr>
          <p:nvPr/>
        </p:nvPicPr>
        <p:blipFill>
          <a:blip r:embed="rId2"/>
          <a:stretch>
            <a:fillRect/>
          </a:stretch>
        </p:blipFill>
        <p:spPr>
          <a:xfrm>
            <a:off x="3670219" y="1919143"/>
            <a:ext cx="294803" cy="294803"/>
          </a:xfrm>
          <a:prstGeom prst="rect">
            <a:avLst/>
          </a:prstGeom>
        </p:spPr>
      </p:pic>
      <p:sp>
        <p:nvSpPr>
          <p:cNvPr id="13" name="Text 9"/>
          <p:cNvSpPr txBox="1"/>
          <p:nvPr/>
        </p:nvSpPr>
        <p:spPr>
          <a:xfrm>
            <a:off x="2903220" y="2468880"/>
            <a:ext cx="1828800" cy="347472"/>
          </a:xfrm>
          <a:prstGeom prst="rect">
            <a:avLst/>
          </a:prstGeom>
          <a:noFill/>
          <a:ln/>
        </p:spPr>
        <p:txBody>
          <a:bodyPr wrap="square" lIns="0" tIns="0" rIns="0" bIns="0" rtlCol="0" anchor="t"/>
          <a:lstStyle/>
          <a:p>
            <a:pPr algn="ctr" indent="0" marL="0">
              <a:buNone/>
            </a:pPr>
            <a:r>
              <a:rPr lang="en-US" sz="1500" b="1" dirty="0">
                <a:solidFill>
                  <a:schemeClr val="accent4"/>
                </a:solidFill>
              </a:rPr>
              <a:t>규칙 검색 (RAG)</a:t>
            </a:r>
            <a:endParaRPr lang="en-US" sz="1500" dirty="0"/>
          </a:p>
        </p:txBody>
      </p:sp>
      <p:sp>
        <p:nvSpPr>
          <p:cNvPr id="14" name="Text 10"/>
          <p:cNvSpPr txBox="1"/>
          <p:nvPr/>
        </p:nvSpPr>
        <p:spPr>
          <a:xfrm>
            <a:off x="2948940" y="283464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절 내용과 관련된 규칙 원문 검색</a:t>
            </a:r>
            <a:endParaRPr lang="en-US" sz="1200" dirty="0"/>
          </a:p>
        </p:txBody>
      </p:sp>
      <p:sp>
        <p:nvSpPr>
          <p:cNvPr id="15" name="arrow"/>
          <p:cNvSpPr/>
          <p:nvPr/>
        </p:nvSpPr>
        <p:spPr>
          <a:xfrm>
            <a:off x="4850892" y="2560320"/>
            <a:ext cx="196596" cy="0"/>
          </a:xfrm>
          <a:prstGeom prst="line">
            <a:avLst/>
          </a:prstGeom>
          <a:noFill/>
          <a:ln w="22225">
            <a:solidFill>
              <a:schemeClr val="accent6"/>
            </a:solidFill>
            <a:prstDash val="solid"/>
            <a:tailEnd type="triangle"/>
          </a:ln>
        </p:spPr>
      </p:sp>
      <p:sp>
        <p:nvSpPr>
          <p:cNvPr id="16" name="rag-step"/>
          <p:cNvSpPr/>
          <p:nvPr/>
        </p:nvSpPr>
        <p:spPr>
          <a:xfrm>
            <a:off x="5074920" y="1600200"/>
            <a:ext cx="2011680" cy="1920240"/>
          </a:xfrm>
          <a:prstGeom prst="roundRect">
            <a:avLst>
              <a:gd name="adj" fmla="val 3810"/>
            </a:avLst>
          </a:prstGeom>
          <a:solidFill>
            <a:schemeClr val="accent4">
              <a:alpha val="10000"/>
            </a:schemeClr>
          </a:solidFill>
          <a:ln/>
        </p:spPr>
      </p:sp>
      <p:sp>
        <p:nvSpPr>
          <p:cNvPr id="17" name="rag-icon-bg"/>
          <p:cNvSpPr/>
          <p:nvPr/>
        </p:nvSpPr>
        <p:spPr>
          <a:xfrm>
            <a:off x="5797296" y="1783080"/>
            <a:ext cx="566928" cy="566928"/>
          </a:xfrm>
          <a:prstGeom prst="ellipse">
            <a:avLst/>
          </a:prstGeom>
          <a:solidFill>
            <a:schemeClr val="accent4"/>
          </a:solidFill>
          <a:ln/>
        </p:spPr>
      </p:sp>
      <p:pic>
        <p:nvPicPr>
          <p:cNvPr id="18" name="rag-icon" descr="preencoded.png">    </p:cNvPr>
          <p:cNvPicPr>
            <a:picLocks noChangeAspect="1"/>
          </p:cNvPicPr>
          <p:nvPr/>
        </p:nvPicPr>
        <p:blipFill>
          <a:blip r:embed="rId3"/>
          <a:stretch>
            <a:fillRect/>
          </a:stretch>
        </p:blipFill>
        <p:spPr>
          <a:xfrm>
            <a:off x="5933359" y="1919143"/>
            <a:ext cx="294803" cy="294803"/>
          </a:xfrm>
          <a:prstGeom prst="rect">
            <a:avLst/>
          </a:prstGeom>
        </p:spPr>
      </p:pic>
      <p:sp>
        <p:nvSpPr>
          <p:cNvPr id="19" name="Text 14"/>
          <p:cNvSpPr txBox="1"/>
          <p:nvPr/>
        </p:nvSpPr>
        <p:spPr>
          <a:xfrm>
            <a:off x="5166360" y="2468880"/>
            <a:ext cx="1828800" cy="347472"/>
          </a:xfrm>
          <a:prstGeom prst="rect">
            <a:avLst/>
          </a:prstGeom>
          <a:noFill/>
          <a:ln/>
        </p:spPr>
        <p:txBody>
          <a:bodyPr wrap="square" lIns="0" tIns="0" rIns="0" bIns="0" rtlCol="0" anchor="t"/>
          <a:lstStyle/>
          <a:p>
            <a:pPr algn="ctr" indent="0" marL="0">
              <a:buNone/>
            </a:pPr>
            <a:r>
              <a:rPr lang="en-US" sz="1500" b="1" dirty="0">
                <a:solidFill>
                  <a:schemeClr val="accent4"/>
                </a:solidFill>
              </a:rPr>
              <a:t>LLM 판정</a:t>
            </a:r>
            <a:endParaRPr lang="en-US" sz="1500" dirty="0"/>
          </a:p>
        </p:txBody>
      </p:sp>
      <p:sp>
        <p:nvSpPr>
          <p:cNvPr id="20" name="Text 15"/>
          <p:cNvSpPr txBox="1"/>
          <p:nvPr/>
        </p:nvSpPr>
        <p:spPr>
          <a:xfrm>
            <a:off x="5212080" y="283464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위치·규칙 ID·수정안을 정해진 형식으로 출력</a:t>
            </a:r>
            <a:endParaRPr lang="en-US" sz="1200" dirty="0"/>
          </a:p>
        </p:txBody>
      </p:sp>
      <p:sp>
        <p:nvSpPr>
          <p:cNvPr id="21" name="arrow"/>
          <p:cNvSpPr/>
          <p:nvPr/>
        </p:nvSpPr>
        <p:spPr>
          <a:xfrm>
            <a:off x="7114032" y="2560320"/>
            <a:ext cx="196596" cy="0"/>
          </a:xfrm>
          <a:prstGeom prst="line">
            <a:avLst/>
          </a:prstGeom>
          <a:noFill/>
          <a:ln w="22225">
            <a:solidFill>
              <a:schemeClr val="accent6"/>
            </a:solidFill>
            <a:prstDash val="solid"/>
            <a:tailEnd type="triangle"/>
          </a:ln>
        </p:spPr>
      </p:sp>
      <p:sp>
        <p:nvSpPr>
          <p:cNvPr id="22" name="rag-step"/>
          <p:cNvSpPr/>
          <p:nvPr/>
        </p:nvSpPr>
        <p:spPr>
          <a:xfrm>
            <a:off x="7338060" y="1600200"/>
            <a:ext cx="2011680" cy="1920240"/>
          </a:xfrm>
          <a:prstGeom prst="roundRect">
            <a:avLst>
              <a:gd name="adj" fmla="val 3810"/>
            </a:avLst>
          </a:prstGeom>
          <a:solidFill>
            <a:schemeClr val="bg2"/>
          </a:solidFill>
          <a:ln/>
        </p:spPr>
      </p:sp>
      <p:sp>
        <p:nvSpPr>
          <p:cNvPr id="23" name="rag-icon-bg"/>
          <p:cNvSpPr/>
          <p:nvPr/>
        </p:nvSpPr>
        <p:spPr>
          <a:xfrm>
            <a:off x="8060436" y="1783080"/>
            <a:ext cx="566928" cy="566928"/>
          </a:xfrm>
          <a:prstGeom prst="ellipse">
            <a:avLst/>
          </a:prstGeom>
          <a:solidFill>
            <a:schemeClr val="accent1"/>
          </a:solidFill>
          <a:ln/>
        </p:spPr>
      </p:sp>
      <p:pic>
        <p:nvPicPr>
          <p:cNvPr id="24" name="rag-icon" descr="preencoded.png">    </p:cNvPr>
          <p:cNvPicPr>
            <a:picLocks noChangeAspect="1"/>
          </p:cNvPicPr>
          <p:nvPr/>
        </p:nvPicPr>
        <p:blipFill>
          <a:blip r:embed="rId4"/>
          <a:stretch>
            <a:fillRect/>
          </a:stretch>
        </p:blipFill>
        <p:spPr>
          <a:xfrm>
            <a:off x="8196499" y="1919143"/>
            <a:ext cx="294803" cy="294803"/>
          </a:xfrm>
          <a:prstGeom prst="rect">
            <a:avLst/>
          </a:prstGeom>
        </p:spPr>
      </p:pic>
      <p:sp>
        <p:nvSpPr>
          <p:cNvPr id="25" name="Text 19"/>
          <p:cNvSpPr txBox="1"/>
          <p:nvPr/>
        </p:nvSpPr>
        <p:spPr>
          <a:xfrm>
            <a:off x="7429500" y="2468880"/>
            <a:ext cx="1828800" cy="347472"/>
          </a:xfrm>
          <a:prstGeom prst="rect">
            <a:avLst/>
          </a:prstGeom>
          <a:noFill/>
          <a:ln/>
        </p:spPr>
        <p:txBody>
          <a:bodyPr wrap="square" lIns="0" tIns="0" rIns="0" bIns="0" rtlCol="0" anchor="t"/>
          <a:lstStyle/>
          <a:p>
            <a:pPr algn="ctr" indent="0" marL="0">
              <a:buNone/>
            </a:pPr>
            <a:r>
              <a:rPr lang="en-US" sz="1500" b="1" dirty="0">
                <a:solidFill>
                  <a:schemeClr val="tx2"/>
                </a:solidFill>
              </a:rPr>
              <a:t>코드 검증</a:t>
            </a:r>
            <a:endParaRPr lang="en-US" sz="1500" dirty="0"/>
          </a:p>
        </p:txBody>
      </p:sp>
      <p:sp>
        <p:nvSpPr>
          <p:cNvPr id="26" name="Text 20"/>
          <p:cNvSpPr txBox="1"/>
          <p:nvPr/>
        </p:nvSpPr>
        <p:spPr>
          <a:xfrm>
            <a:off x="7475220" y="283464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형식 확인 후 "권고"로만 표시</a:t>
            </a:r>
            <a:endParaRPr lang="en-US" sz="1200" dirty="0"/>
          </a:p>
        </p:txBody>
      </p:sp>
      <p:sp>
        <p:nvSpPr>
          <p:cNvPr id="27" name="arrow"/>
          <p:cNvSpPr/>
          <p:nvPr/>
        </p:nvSpPr>
        <p:spPr>
          <a:xfrm>
            <a:off x="9377172" y="2560320"/>
            <a:ext cx="196596" cy="0"/>
          </a:xfrm>
          <a:prstGeom prst="line">
            <a:avLst/>
          </a:prstGeom>
          <a:noFill/>
          <a:ln w="22225">
            <a:solidFill>
              <a:schemeClr val="accent6"/>
            </a:solidFill>
            <a:prstDash val="solid"/>
            <a:tailEnd type="triangle"/>
          </a:ln>
        </p:spPr>
      </p:sp>
      <p:sp>
        <p:nvSpPr>
          <p:cNvPr id="28" name="rag-step"/>
          <p:cNvSpPr/>
          <p:nvPr/>
        </p:nvSpPr>
        <p:spPr>
          <a:xfrm>
            <a:off x="9601200" y="1600200"/>
            <a:ext cx="2011680" cy="1920240"/>
          </a:xfrm>
          <a:prstGeom prst="roundRect">
            <a:avLst>
              <a:gd name="adj" fmla="val 3810"/>
            </a:avLst>
          </a:prstGeom>
          <a:solidFill>
            <a:schemeClr val="bg2"/>
          </a:solidFill>
          <a:ln/>
        </p:spPr>
      </p:sp>
      <p:sp>
        <p:nvSpPr>
          <p:cNvPr id="29" name="rag-icon-bg"/>
          <p:cNvSpPr/>
          <p:nvPr/>
        </p:nvSpPr>
        <p:spPr>
          <a:xfrm>
            <a:off x="10323576" y="1783080"/>
            <a:ext cx="566928" cy="566928"/>
          </a:xfrm>
          <a:prstGeom prst="ellipse">
            <a:avLst/>
          </a:prstGeom>
          <a:solidFill>
            <a:schemeClr val="accent1"/>
          </a:solidFill>
          <a:ln/>
        </p:spPr>
      </p:sp>
      <p:pic>
        <p:nvPicPr>
          <p:cNvPr id="30" name="rag-icon" descr="preencoded.png">    </p:cNvPr>
          <p:cNvPicPr>
            <a:picLocks noChangeAspect="1"/>
          </p:cNvPicPr>
          <p:nvPr/>
        </p:nvPicPr>
        <p:blipFill>
          <a:blip r:embed="rId5"/>
          <a:stretch>
            <a:fillRect/>
          </a:stretch>
        </p:blipFill>
        <p:spPr>
          <a:xfrm>
            <a:off x="10459639" y="1919143"/>
            <a:ext cx="294803" cy="294803"/>
          </a:xfrm>
          <a:prstGeom prst="rect">
            <a:avLst/>
          </a:prstGeom>
        </p:spPr>
      </p:pic>
      <p:sp>
        <p:nvSpPr>
          <p:cNvPr id="31" name="Text 24"/>
          <p:cNvSpPr txBox="1"/>
          <p:nvPr/>
        </p:nvSpPr>
        <p:spPr>
          <a:xfrm>
            <a:off x="9692640" y="2468880"/>
            <a:ext cx="1828800" cy="347472"/>
          </a:xfrm>
          <a:prstGeom prst="rect">
            <a:avLst/>
          </a:prstGeom>
          <a:noFill/>
          <a:ln/>
        </p:spPr>
        <p:txBody>
          <a:bodyPr wrap="square" lIns="0" tIns="0" rIns="0" bIns="0" rtlCol="0" anchor="t"/>
          <a:lstStyle/>
          <a:p>
            <a:pPr algn="ctr" indent="0" marL="0">
              <a:buNone/>
            </a:pPr>
            <a:r>
              <a:rPr lang="en-US" sz="1500" b="1" dirty="0">
                <a:solidFill>
                  <a:schemeClr val="tx2"/>
                </a:solidFill>
              </a:rPr>
              <a:t>화면 표시</a:t>
            </a:r>
            <a:endParaRPr lang="en-US" sz="1500" dirty="0"/>
          </a:p>
        </p:txBody>
      </p:sp>
      <p:sp>
        <p:nvSpPr>
          <p:cNvPr id="32" name="Text 25"/>
          <p:cNvSpPr txBox="1"/>
          <p:nvPr/>
        </p:nvSpPr>
        <p:spPr>
          <a:xfrm>
            <a:off x="9738360" y="283464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근거 조항과 함께 위반 목록 제공</a:t>
            </a:r>
            <a:endParaRPr lang="en-US" sz="1200" dirty="0"/>
          </a:p>
        </p:txBody>
      </p:sp>
      <p:sp>
        <p:nvSpPr>
          <p:cNvPr id="33" name="Text 26"/>
          <p:cNvSpPr txBox="1"/>
          <p:nvPr/>
        </p:nvSpPr>
        <p:spPr>
          <a:xfrm>
            <a:off x="548640" y="3657600"/>
            <a:ext cx="11064240" cy="320040"/>
          </a:xfrm>
          <a:prstGeom prst="rect">
            <a:avLst/>
          </a:prstGeom>
          <a:noFill/>
          <a:ln/>
        </p:spPr>
        <p:txBody>
          <a:bodyPr wrap="square" lIns="0" tIns="0" rIns="0" bIns="0" rtlCol="0" anchor="t"/>
          <a:lstStyle/>
          <a:p>
            <a:pPr indent="0" marL="0">
              <a:buNone/>
            </a:pPr>
            <a:r>
              <a:rPr lang="en-US" sz="1300" b="1" dirty="0">
                <a:solidFill>
                  <a:schemeClr val="accent4"/>
                </a:solidFill>
              </a:rPr>
              <a:t>AI 적용 규칙: C-03 개조식 · C-04 한 문장 한 내용 · C-06 이유 충분성 · M-01 기한 구체성 · P-02 주의사항 적합성 + 규칙 질의 답변</a:t>
            </a:r>
            <a:endParaRPr lang="en-US" sz="1300" dirty="0"/>
          </a:p>
        </p:txBody>
      </p:sp>
      <p:sp>
        <p:nvSpPr>
          <p:cNvPr id="34" name="ai-principle"/>
          <p:cNvSpPr/>
          <p:nvPr/>
        </p:nvSpPr>
        <p:spPr>
          <a:xfrm>
            <a:off x="548640" y="4160520"/>
            <a:ext cx="5394960" cy="2011680"/>
          </a:xfrm>
          <a:prstGeom prst="roundRect">
            <a:avLst>
              <a:gd name="adj" fmla="val 3636"/>
            </a:avLst>
          </a:prstGeom>
          <a:solidFill>
            <a:schemeClr val="bg1"/>
          </a:solidFill>
          <a:ln w="9525">
            <a:solidFill>
              <a:srgbClr val="D7DEE8"/>
            </a:solidFill>
            <a:prstDash val="solid"/>
          </a:ln>
          <a:effectLst>
            <a:outerShdw sx="100000" sy="100000" kx="0" ky="0" algn="bl" rotWithShape="0" blurRad="76200" dist="25400" dir="5400000">
              <a:srgbClr val="000000">
                <a:alpha val="12000"/>
              </a:srgbClr>
            </a:outerShdw>
          </a:effectLst>
        </p:spPr>
      </p:sp>
      <p:sp>
        <p:nvSpPr>
          <p:cNvPr id="35" name="ai-principle-icon-bg"/>
          <p:cNvSpPr/>
          <p:nvPr/>
        </p:nvSpPr>
        <p:spPr>
          <a:xfrm>
            <a:off x="777240" y="4343400"/>
            <a:ext cx="502920" cy="502920"/>
          </a:xfrm>
          <a:prstGeom prst="ellipse">
            <a:avLst/>
          </a:prstGeom>
          <a:solidFill>
            <a:schemeClr val="accent4"/>
          </a:solidFill>
          <a:ln/>
        </p:spPr>
      </p:sp>
      <p:pic>
        <p:nvPicPr>
          <p:cNvPr id="36" name="ai-principle-icon" descr="preencoded.png">    </p:cNvPr>
          <p:cNvPicPr>
            <a:picLocks noChangeAspect="1"/>
          </p:cNvPicPr>
          <p:nvPr/>
        </p:nvPicPr>
        <p:blipFill>
          <a:blip r:embed="rId6"/>
          <a:stretch>
            <a:fillRect/>
          </a:stretch>
        </p:blipFill>
        <p:spPr>
          <a:xfrm>
            <a:off x="897941" y="4464101"/>
            <a:ext cx="261518" cy="261518"/>
          </a:xfrm>
          <a:prstGeom prst="rect">
            <a:avLst/>
          </a:prstGeom>
        </p:spPr>
      </p:pic>
      <p:sp>
        <p:nvSpPr>
          <p:cNvPr id="37" name="Text 29"/>
          <p:cNvSpPr txBox="1"/>
          <p:nvPr/>
        </p:nvSpPr>
        <p:spPr>
          <a:xfrm>
            <a:off x="1417320" y="4389120"/>
            <a:ext cx="4297680" cy="411480"/>
          </a:xfrm>
          <a:prstGeom prst="rect">
            <a:avLst/>
          </a:prstGeom>
          <a:noFill/>
          <a:ln/>
        </p:spPr>
        <p:txBody>
          <a:bodyPr wrap="square" lIns="0" tIns="0" rIns="0" bIns="0" rtlCol="0" anchor="t"/>
          <a:lstStyle/>
          <a:p>
            <a:pPr indent="0" marL="0">
              <a:buNone/>
            </a:pPr>
            <a:r>
              <a:rPr lang="en-US" sz="1600" b="1" dirty="0">
                <a:solidFill>
                  <a:schemeClr val="tx2"/>
                </a:solidFill>
              </a:rPr>
              <a:t>AI 활용 원칙</a:t>
            </a:r>
            <a:endParaRPr lang="en-US" sz="1600" dirty="0"/>
          </a:p>
        </p:txBody>
      </p:sp>
      <p:sp>
        <p:nvSpPr>
          <p:cNvPr id="38" name="Text 30"/>
          <p:cNvSpPr txBox="1"/>
          <p:nvPr/>
        </p:nvSpPr>
        <p:spPr>
          <a:xfrm>
            <a:off x="777240" y="4937760"/>
            <a:ext cx="502920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AI 판정은 권고만 — 검토 요청 차단 없음</a:t>
            </a:r>
            <a:endParaRPr lang="en-US" sz="1400" dirty="0"/>
          </a:p>
          <a:p>
            <a:pPr marL="342900" indent="-342900">
              <a:spcAft>
                <a:spcPts val="600"/>
              </a:spcAft>
              <a:buSzPct val="100000"/>
              <a:buChar char="•"/>
            </a:pPr>
            <a:r>
              <a:rPr lang="en-US" sz="1400" dirty="0">
                <a:solidFill>
                  <a:schemeClr val="tx1"/>
                </a:solidFill>
              </a:rPr>
              <a:t>결정 이유는 AI가 생성하지 않음 — 작성자 직접 입력</a:t>
            </a:r>
            <a:endParaRPr lang="en-US" sz="1400" dirty="0"/>
          </a:p>
          <a:p>
            <a:pPr marL="342900" indent="-342900">
              <a:spcAft>
                <a:spcPts val="600"/>
              </a:spcAft>
              <a:buSzPct val="100000"/>
              <a:buChar char="•"/>
            </a:pPr>
            <a:r>
              <a:rPr lang="en-US" sz="1400" dirty="0">
                <a:solidFill>
                  <a:schemeClr val="tx1"/>
                </a:solidFill>
              </a:rPr>
              <a:t>모든 판정에 근거 규칙 원문 함께 제시</a:t>
            </a:r>
            <a:endParaRPr lang="en-US" sz="1400" dirty="0"/>
          </a:p>
        </p:txBody>
      </p:sp>
      <p:sp>
        <p:nvSpPr>
          <p:cNvPr id="39" name="roadmap"/>
          <p:cNvSpPr/>
          <p:nvPr/>
        </p:nvSpPr>
        <p:spPr>
          <a:xfrm>
            <a:off x="6217920" y="4160520"/>
            <a:ext cx="5394960" cy="2011680"/>
          </a:xfrm>
          <a:prstGeom prst="roundRect">
            <a:avLst>
              <a:gd name="adj" fmla="val 3636"/>
            </a:avLst>
          </a:prstGeom>
          <a:solidFill>
            <a:schemeClr val="bg1"/>
          </a:solidFill>
          <a:ln w="9525">
            <a:solidFill>
              <a:srgbClr val="D7DEE8"/>
            </a:solidFill>
            <a:prstDash val="solid"/>
          </a:ln>
          <a:effectLst>
            <a:outerShdw sx="100000" sy="100000" kx="0" ky="0" algn="bl" rotWithShape="0" blurRad="76200" dist="25400" dir="5400000">
              <a:srgbClr val="000000">
                <a:alpha val="12000"/>
              </a:srgbClr>
            </a:outerShdw>
          </a:effectLst>
        </p:spPr>
      </p:sp>
      <p:sp>
        <p:nvSpPr>
          <p:cNvPr id="40" name="roadmap-icon-bg"/>
          <p:cNvSpPr/>
          <p:nvPr/>
        </p:nvSpPr>
        <p:spPr>
          <a:xfrm>
            <a:off x="6446520" y="4343400"/>
            <a:ext cx="502920" cy="502920"/>
          </a:xfrm>
          <a:prstGeom prst="ellipse">
            <a:avLst/>
          </a:prstGeom>
          <a:solidFill>
            <a:schemeClr val="accent1"/>
          </a:solidFill>
          <a:ln/>
        </p:spPr>
      </p:sp>
      <p:pic>
        <p:nvPicPr>
          <p:cNvPr id="41" name="roadmap-icon" descr="preencoded.png">    </p:cNvPr>
          <p:cNvPicPr>
            <a:picLocks noChangeAspect="1"/>
          </p:cNvPicPr>
          <p:nvPr/>
        </p:nvPicPr>
        <p:blipFill>
          <a:blip r:embed="rId7"/>
          <a:stretch>
            <a:fillRect/>
          </a:stretch>
        </p:blipFill>
        <p:spPr>
          <a:xfrm>
            <a:off x="6567221" y="4464101"/>
            <a:ext cx="261518" cy="261518"/>
          </a:xfrm>
          <a:prstGeom prst="rect">
            <a:avLst/>
          </a:prstGeom>
        </p:spPr>
      </p:pic>
      <p:sp>
        <p:nvSpPr>
          <p:cNvPr id="42" name="Text 33"/>
          <p:cNvSpPr txBox="1"/>
          <p:nvPr/>
        </p:nvSpPr>
        <p:spPr>
          <a:xfrm>
            <a:off x="7086600" y="4389120"/>
            <a:ext cx="4389120" cy="411480"/>
          </a:xfrm>
          <a:prstGeom prst="rect">
            <a:avLst/>
          </a:prstGeom>
          <a:noFill/>
          <a:ln/>
        </p:spPr>
        <p:txBody>
          <a:bodyPr wrap="square" lIns="0" tIns="0" rIns="0" bIns="0" rtlCol="0" anchor="t"/>
          <a:lstStyle/>
          <a:p>
            <a:pPr indent="0" marL="0">
              <a:buNone/>
            </a:pPr>
            <a:r>
              <a:rPr lang="en-US" sz="1600" b="1" dirty="0">
                <a:solidFill>
                  <a:schemeClr val="tx2"/>
                </a:solidFill>
              </a:rPr>
              <a:t>현재 시연판 → 향후 계획</a:t>
            </a:r>
            <a:endParaRPr lang="en-US" sz="1600" dirty="0"/>
          </a:p>
        </p:txBody>
      </p:sp>
      <p:sp>
        <p:nvSpPr>
          <p:cNvPr id="43" name="Text 34"/>
          <p:cNvSpPr txBox="1"/>
          <p:nvPr/>
        </p:nvSpPr>
        <p:spPr>
          <a:xfrm>
            <a:off x="6446520" y="4937760"/>
            <a:ext cx="502920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패턴 매칭 모의 판정 → 실제 LLM 연동</a:t>
            </a:r>
            <a:endParaRPr lang="en-US" sz="1400" dirty="0"/>
          </a:p>
          <a:p>
            <a:pPr marL="342900" indent="-342900">
              <a:spcAft>
                <a:spcPts val="600"/>
              </a:spcAft>
              <a:buSzPct val="100000"/>
              <a:buChar char="•"/>
            </a:pPr>
            <a:r>
              <a:rPr lang="en-US" sz="1400" dirty="0">
                <a:solidFill>
                  <a:schemeClr val="tx1"/>
                </a:solidFill>
              </a:rPr>
              <a:t>브라우저 저장 → 백엔드·DB·사내 로그인</a:t>
            </a:r>
            <a:endParaRPr lang="en-US" sz="1400" dirty="0"/>
          </a:p>
          <a:p>
            <a:pPr marL="342900" indent="-342900">
              <a:spcAft>
                <a:spcPts val="600"/>
              </a:spcAft>
              <a:buSzPct val="100000"/>
              <a:buChar char="•"/>
            </a:pPr>
            <a:r>
              <a:rPr lang="en-US" sz="1400" dirty="0">
                <a:solidFill>
                  <a:schemeClr val="tx1"/>
                </a:solidFill>
              </a:rPr>
              <a:t>고정 규칙 9개 → 회사별 규칙집 등록</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oc Rule Checker">
  <a:themeElements>
    <a:clrScheme name="Doc Rule Checker">
      <a:dk1>
        <a:srgbClr val="1E293B"/>
      </a:dk1>
      <a:lt1>
        <a:srgbClr val="FFFFFF"/>
      </a:lt1>
      <a:dk2>
        <a:srgbClr val="1B3557"/>
      </a:dk2>
      <a:lt2>
        <a:srgbClr val="EEF3F9"/>
      </a:lt2>
      <a:accent1>
        <a:srgbClr val="24446F"/>
      </a:accent1>
      <a:accent2>
        <a:srgbClr val="B91C1C"/>
      </a:accent2>
      <a:accent3>
        <a:srgbClr val="B45309"/>
      </a:accent3>
      <a:accent4>
        <a:srgbClr val="6D28D9"/>
      </a:accent4>
      <a:accent5>
        <a:srgbClr val="047857"/>
      </a:accent5>
      <a:accent6>
        <a:srgbClr val="64748B"/>
      </a:accent6>
      <a:hlink>
        <a:srgbClr val="24446F"/>
      </a:hlink>
      <a:folHlink>
        <a:srgbClr val="6D28D9"/>
      </a:folHlink>
    </a:clrScheme>
    <a:fontScheme name="Doc Rule Checker">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문서 규칙 점검기 — AI의산업현장적용 중간평가</dc:title>
  <dc:subject>PptxGenJS Presentation</dc:subject>
  <dc:creator>PptxGenJS</dc:creator>
  <cp:lastModifiedBy>PptxGenJS</cp:lastModifiedBy>
  <cp:revision>1</cp:revision>
  <dcterms:created xsi:type="dcterms:W3CDTF">2026-10-21T06:39:04Z</dcterms:created>
  <dcterms:modified xsi:type="dcterms:W3CDTF">2026-10-21T06:39:04Z</dcterms:modified>
</cp:coreProperties>
</file>